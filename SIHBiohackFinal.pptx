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 Bold" charset="1" panose="020B070402020202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 Bold Italics" charset="1" panose="020F07020304040A0204"/>
      <p:regular r:id="rId20"/>
    </p:embeddedFont>
    <p:embeddedFont>
      <p:font typeface="Calibri (MS)" charset="1" panose="020F050202020403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14" Target="../media/image5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6.jpeg" Type="http://schemas.openxmlformats.org/officeDocument/2006/relationships/image"/><Relationship Id="rId4" Target="../media/image4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8.png" Type="http://schemas.openxmlformats.org/officeDocument/2006/relationships/image"/><Relationship Id="rId12" Target="../media/image9.png" Type="http://schemas.openxmlformats.org/officeDocument/2006/relationships/image"/><Relationship Id="rId13" Target="../media/image12.png" Type="http://schemas.openxmlformats.org/officeDocument/2006/relationships/image"/><Relationship Id="rId14" Target="../media/image11.png" Type="http://schemas.openxmlformats.org/officeDocument/2006/relationships/image"/><Relationship Id="rId15" Target="../media/image19.png" Type="http://schemas.openxmlformats.org/officeDocument/2006/relationships/image"/><Relationship Id="rId16" Target="../media/image5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6.jpeg" Type="http://schemas.openxmlformats.org/officeDocument/2006/relationships/image"/><Relationship Id="rId4" Target="../media/image4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5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6.jpeg" Type="http://schemas.openxmlformats.org/officeDocument/2006/relationships/image"/><Relationship Id="rId4" Target="../media/image4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5.png" Type="http://schemas.openxmlformats.org/officeDocument/2006/relationships/image"/><Relationship Id="rId8" Target="../media/image14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0.png" Type="http://schemas.openxmlformats.org/officeDocument/2006/relationships/image"/><Relationship Id="rId13" Target="../media/image15.png" Type="http://schemas.openxmlformats.org/officeDocument/2006/relationships/image"/><Relationship Id="rId14" Target="../media/image13.png" Type="http://schemas.openxmlformats.org/officeDocument/2006/relationships/image"/><Relationship Id="rId15" Target="../media/image5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6.jpeg" Type="http://schemas.openxmlformats.org/officeDocument/2006/relationships/image"/><Relationship Id="rId4" Target="../media/image4.jpe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jpeg" Type="http://schemas.openxmlformats.org/officeDocument/2006/relationships/image"/><Relationship Id="rId4" Target="../media/image4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0.png" Type="http://schemas.openxmlformats.org/officeDocument/2006/relationships/image"/><Relationship Id="rId8" Target="../media/image15.png" Type="http://schemas.openxmlformats.org/officeDocument/2006/relationships/image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294752" y="1665180"/>
            <a:ext cx="11624292" cy="160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1"/>
              </a:lnSpc>
            </a:pPr>
            <a:r>
              <a:rPr lang="en-US" sz="345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MICROHACK- Embedded Intelligent Microscopy System for Identification and Counting of Microscopic Marine Organisms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35051" y="-705736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726400" cy="4152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2025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6929" y="3880245"/>
            <a:ext cx="10024195" cy="482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</a:p>
          <a:p>
            <a:pPr algn="just" marL="393701" indent="-196851" lvl="1">
              <a:lnSpc>
                <a:spcPts val="5221"/>
              </a:lnSpc>
              <a:buFont typeface="Arial"/>
              <a:buChar char="•"/>
            </a:pPr>
            <a:r>
              <a:rPr lang="en-US" b="true" sz="217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SIH25043</a:t>
            </a:r>
          </a:p>
          <a:p>
            <a:pPr algn="just" marL="393701" indent="-196851" lvl="1">
              <a:lnSpc>
                <a:spcPts val="5221"/>
              </a:lnSpc>
              <a:buFont typeface="Arial"/>
              <a:buChar char="•"/>
            </a:pPr>
            <a:r>
              <a:rPr lang="en-US" b="true" sz="217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Embedded Intelligent Microscopy System for Identification and Counting of Microscopic Marine Organisms</a:t>
            </a:r>
          </a:p>
          <a:p>
            <a:pPr algn="just" marL="393701" indent="-196851" lvl="1">
              <a:lnSpc>
                <a:spcPts val="5221"/>
              </a:lnSpc>
              <a:buFont typeface="Arial"/>
              <a:buChar char="•"/>
            </a:pPr>
            <a:r>
              <a:rPr lang="en-US" b="true" sz="217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</a:p>
          <a:p>
            <a:pPr algn="just" marL="393701" indent="-196851" lvl="1">
              <a:lnSpc>
                <a:spcPts val="5221"/>
              </a:lnSpc>
              <a:buFont typeface="Arial"/>
              <a:buChar char="•"/>
            </a:pPr>
            <a:r>
              <a:rPr lang="en-US" b="true" sz="217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Software/Hardware</a:t>
            </a:r>
          </a:p>
          <a:p>
            <a:pPr algn="just" marL="393701" indent="-196851" lvl="1">
              <a:lnSpc>
                <a:spcPts val="5221"/>
              </a:lnSpc>
              <a:buFont typeface="Arial"/>
              <a:buChar char="•"/>
            </a:pPr>
            <a:r>
              <a:rPr lang="en-US" b="true" sz="217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393701" indent="-196851" lvl="1">
              <a:lnSpc>
                <a:spcPts val="5221"/>
              </a:lnSpc>
              <a:buFont typeface="Arial"/>
              <a:buChar char="•"/>
            </a:pPr>
            <a:r>
              <a:rPr lang="en-US" b="true" sz="217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 BIOHACK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11" id="11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77344" y="130602"/>
            <a:ext cx="13123412" cy="1697536"/>
            <a:chOff x="0" y="0"/>
            <a:chExt cx="17497882" cy="22633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97933" cy="2263394"/>
            </a:xfrm>
            <a:custGeom>
              <a:avLst/>
              <a:gdLst/>
              <a:ahLst/>
              <a:cxnLst/>
              <a:rect r="r" b="b" t="t" l="l"/>
              <a:pathLst>
                <a:path h="2263394" w="17497933">
                  <a:moveTo>
                    <a:pt x="0" y="0"/>
                  </a:moveTo>
                  <a:lnTo>
                    <a:pt x="17497933" y="0"/>
                  </a:lnTo>
                  <a:lnTo>
                    <a:pt x="17497933" y="2263394"/>
                  </a:lnTo>
                  <a:lnTo>
                    <a:pt x="0" y="22633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30" r="0" b="-10053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020800" y="9739312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020800" y="9725025"/>
            <a:ext cx="4267200" cy="561975"/>
            <a:chOff x="0" y="0"/>
            <a:chExt cx="5689600" cy="749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Freeform 11" id="11" descr="Your startup LOGO"/>
          <p:cNvSpPr/>
          <p:nvPr/>
        </p:nvSpPr>
        <p:spPr>
          <a:xfrm flipH="false" flipV="false" rot="0">
            <a:off x="26899" y="110947"/>
            <a:ext cx="1778127" cy="1090041"/>
          </a:xfrm>
          <a:custGeom>
            <a:avLst/>
            <a:gdLst/>
            <a:ahLst/>
            <a:cxnLst/>
            <a:rect r="r" b="b" t="t" l="l"/>
            <a:pathLst>
              <a:path h="1090041" w="1778127">
                <a:moveTo>
                  <a:pt x="0" y="0"/>
                </a:moveTo>
                <a:lnTo>
                  <a:pt x="1778127" y="0"/>
                </a:lnTo>
                <a:lnTo>
                  <a:pt x="1778127" y="1090041"/>
                </a:lnTo>
                <a:lnTo>
                  <a:pt x="0" y="1090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3477" y="522151"/>
            <a:ext cx="118497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 b="true">
                <a:solidFill>
                  <a:srgbClr val="558ED5"/>
                </a:solidFill>
                <a:latin typeface="Arial Bold"/>
                <a:ea typeface="Arial Bold"/>
                <a:cs typeface="Arial Bold"/>
                <a:sym typeface="Arial Bold"/>
              </a:rPr>
              <a:t>BIOHACK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98846" y="312620"/>
            <a:ext cx="16537941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9"/>
              </a:lnSpc>
              <a:spcBef>
                <a:spcPct val="0"/>
              </a:spcBef>
            </a:pPr>
            <a:r>
              <a:rPr lang="en-US" b="true" sz="5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21996" y="3236737"/>
            <a:ext cx="8859157" cy="605098"/>
            <a:chOff x="0" y="0"/>
            <a:chExt cx="10972800" cy="7494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49464"/>
            </a:xfrm>
            <a:custGeom>
              <a:avLst/>
              <a:gdLst/>
              <a:ahLst/>
              <a:cxnLst/>
              <a:rect r="r" b="b" t="t" l="l"/>
              <a:pathLst>
                <a:path h="7494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49464"/>
                  </a:lnTo>
                  <a:lnTo>
                    <a:pt x="0" y="749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2575" r="0" b="-2279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972800" cy="816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23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ADDRESSES THE PROBLEM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96161" y="4266442"/>
            <a:ext cx="784889" cy="903695"/>
            <a:chOff x="0" y="0"/>
            <a:chExt cx="972150" cy="11193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2150" cy="1119302"/>
            </a:xfrm>
            <a:custGeom>
              <a:avLst/>
              <a:gdLst/>
              <a:ahLst/>
              <a:cxnLst/>
              <a:rect r="r" b="b" t="t" l="l"/>
              <a:pathLst>
                <a:path h="1119302" w="972150">
                  <a:moveTo>
                    <a:pt x="0" y="559651"/>
                  </a:moveTo>
                  <a:cubicBezTo>
                    <a:pt x="0" y="250571"/>
                    <a:pt x="217629" y="0"/>
                    <a:pt x="486075" y="0"/>
                  </a:cubicBezTo>
                  <a:cubicBezTo>
                    <a:pt x="754521" y="0"/>
                    <a:pt x="972150" y="250571"/>
                    <a:pt x="972150" y="559651"/>
                  </a:cubicBezTo>
                  <a:cubicBezTo>
                    <a:pt x="972150" y="868731"/>
                    <a:pt x="754521" y="1119302"/>
                    <a:pt x="486075" y="1119302"/>
                  </a:cubicBezTo>
                  <a:cubicBezTo>
                    <a:pt x="217629" y="1119302"/>
                    <a:pt x="0" y="868731"/>
                    <a:pt x="0" y="559651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90348" y="4374886"/>
            <a:ext cx="596516" cy="686809"/>
            <a:chOff x="0" y="0"/>
            <a:chExt cx="738834" cy="850669"/>
          </a:xfrm>
        </p:grpSpPr>
        <p:sp>
          <p:nvSpPr>
            <p:cNvPr name="Freeform 20" id="20" descr="icon_target.png"/>
            <p:cNvSpPr/>
            <p:nvPr/>
          </p:nvSpPr>
          <p:spPr>
            <a:xfrm flipH="false" flipV="false" rot="0">
              <a:off x="0" y="0"/>
              <a:ext cx="738809" cy="850641"/>
            </a:xfrm>
            <a:custGeom>
              <a:avLst/>
              <a:gdLst/>
              <a:ahLst/>
              <a:cxnLst/>
              <a:rect r="r" b="b" t="t" l="l"/>
              <a:pathLst>
                <a:path h="850641" w="738809">
                  <a:moveTo>
                    <a:pt x="0" y="0"/>
                  </a:moveTo>
                  <a:lnTo>
                    <a:pt x="738809" y="0"/>
                  </a:lnTo>
                  <a:lnTo>
                    <a:pt x="738809" y="850641"/>
                  </a:lnTo>
                  <a:lnTo>
                    <a:pt x="0" y="85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568" t="0" r="-7572" b="-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95110" y="4103994"/>
            <a:ext cx="7848890" cy="1396620"/>
            <a:chOff x="0" y="0"/>
            <a:chExt cx="9721500" cy="17298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21500" cy="1729830"/>
            </a:xfrm>
            <a:custGeom>
              <a:avLst/>
              <a:gdLst/>
              <a:ahLst/>
              <a:cxnLst/>
              <a:rect r="r" b="b" t="t" l="l"/>
              <a:pathLst>
                <a:path h="1729830" w="9721500">
                  <a:moveTo>
                    <a:pt x="0" y="0"/>
                  </a:moveTo>
                  <a:lnTo>
                    <a:pt x="9721500" y="0"/>
                  </a:lnTo>
                  <a:lnTo>
                    <a:pt x="9721500" y="1729830"/>
                  </a:lnTo>
                  <a:lnTo>
                    <a:pt x="0" y="17298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67" r="-3465" b="-5823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721500" cy="1777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Automated identification &amp; counting of microscopic marine organisms, replacing slow manual microscopy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96161" y="5942386"/>
            <a:ext cx="784889" cy="903695"/>
            <a:chOff x="0" y="0"/>
            <a:chExt cx="972150" cy="11193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2150" cy="1119302"/>
            </a:xfrm>
            <a:custGeom>
              <a:avLst/>
              <a:gdLst/>
              <a:ahLst/>
              <a:cxnLst/>
              <a:rect r="r" b="b" t="t" l="l"/>
              <a:pathLst>
                <a:path h="1119302" w="972150">
                  <a:moveTo>
                    <a:pt x="0" y="559651"/>
                  </a:moveTo>
                  <a:cubicBezTo>
                    <a:pt x="0" y="250571"/>
                    <a:pt x="217629" y="0"/>
                    <a:pt x="486075" y="0"/>
                  </a:cubicBezTo>
                  <a:cubicBezTo>
                    <a:pt x="754521" y="0"/>
                    <a:pt x="972150" y="250571"/>
                    <a:pt x="972150" y="559651"/>
                  </a:cubicBezTo>
                  <a:cubicBezTo>
                    <a:pt x="972150" y="868731"/>
                    <a:pt x="754521" y="1119302"/>
                    <a:pt x="486075" y="1119302"/>
                  </a:cubicBezTo>
                  <a:cubicBezTo>
                    <a:pt x="217629" y="1119302"/>
                    <a:pt x="0" y="868731"/>
                    <a:pt x="0" y="559651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90348" y="6050830"/>
            <a:ext cx="596516" cy="686809"/>
            <a:chOff x="0" y="0"/>
            <a:chExt cx="738834" cy="850669"/>
          </a:xfrm>
        </p:grpSpPr>
        <p:sp>
          <p:nvSpPr>
            <p:cNvPr name="Freeform 27" id="27" descr="icon_water.png"/>
            <p:cNvSpPr/>
            <p:nvPr/>
          </p:nvSpPr>
          <p:spPr>
            <a:xfrm flipH="false" flipV="false" rot="0">
              <a:off x="0" y="0"/>
              <a:ext cx="738809" cy="850641"/>
            </a:xfrm>
            <a:custGeom>
              <a:avLst/>
              <a:gdLst/>
              <a:ahLst/>
              <a:cxnLst/>
              <a:rect r="r" b="b" t="t" l="l"/>
              <a:pathLst>
                <a:path h="850641" w="738809">
                  <a:moveTo>
                    <a:pt x="0" y="0"/>
                  </a:moveTo>
                  <a:lnTo>
                    <a:pt x="738809" y="0"/>
                  </a:lnTo>
                  <a:lnTo>
                    <a:pt x="738809" y="850641"/>
                  </a:lnTo>
                  <a:lnTo>
                    <a:pt x="0" y="85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568" t="0" r="-7572" b="-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95110" y="5893094"/>
            <a:ext cx="7848890" cy="1396620"/>
            <a:chOff x="0" y="0"/>
            <a:chExt cx="9721500" cy="17298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21500" cy="1729830"/>
            </a:xfrm>
            <a:custGeom>
              <a:avLst/>
              <a:gdLst/>
              <a:ahLst/>
              <a:cxnLst/>
              <a:rect r="r" b="b" t="t" l="l"/>
              <a:pathLst>
                <a:path h="1729830" w="9721500">
                  <a:moveTo>
                    <a:pt x="0" y="0"/>
                  </a:moveTo>
                  <a:lnTo>
                    <a:pt x="9721500" y="0"/>
                  </a:lnTo>
                  <a:lnTo>
                    <a:pt x="9721500" y="1729830"/>
                  </a:lnTo>
                  <a:lnTo>
                    <a:pt x="0" y="17298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67" r="-3465" b="-5823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721500" cy="1777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Handles difficult species : faint, thin, or visually similar organisms that confuse classical methods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96161" y="7618331"/>
            <a:ext cx="784889" cy="903695"/>
            <a:chOff x="0" y="0"/>
            <a:chExt cx="972150" cy="11193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2150" cy="1119302"/>
            </a:xfrm>
            <a:custGeom>
              <a:avLst/>
              <a:gdLst/>
              <a:ahLst/>
              <a:cxnLst/>
              <a:rect r="r" b="b" t="t" l="l"/>
              <a:pathLst>
                <a:path h="1119302" w="972150">
                  <a:moveTo>
                    <a:pt x="0" y="559651"/>
                  </a:moveTo>
                  <a:cubicBezTo>
                    <a:pt x="0" y="250571"/>
                    <a:pt x="217629" y="0"/>
                    <a:pt x="486075" y="0"/>
                  </a:cubicBezTo>
                  <a:cubicBezTo>
                    <a:pt x="754521" y="0"/>
                    <a:pt x="972150" y="250571"/>
                    <a:pt x="972150" y="559651"/>
                  </a:cubicBezTo>
                  <a:cubicBezTo>
                    <a:pt x="972150" y="868731"/>
                    <a:pt x="754521" y="1119302"/>
                    <a:pt x="486075" y="1119302"/>
                  </a:cubicBezTo>
                  <a:cubicBezTo>
                    <a:pt x="217629" y="1119302"/>
                    <a:pt x="0" y="868731"/>
                    <a:pt x="0" y="559651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90348" y="7726774"/>
            <a:ext cx="596516" cy="686809"/>
            <a:chOff x="0" y="0"/>
            <a:chExt cx="738834" cy="850669"/>
          </a:xfrm>
        </p:grpSpPr>
        <p:sp>
          <p:nvSpPr>
            <p:cNvPr name="Freeform 34" id="34" descr="icon_shield.png"/>
            <p:cNvSpPr/>
            <p:nvPr/>
          </p:nvSpPr>
          <p:spPr>
            <a:xfrm flipH="false" flipV="false" rot="0">
              <a:off x="0" y="0"/>
              <a:ext cx="738809" cy="850641"/>
            </a:xfrm>
            <a:custGeom>
              <a:avLst/>
              <a:gdLst/>
              <a:ahLst/>
              <a:cxnLst/>
              <a:rect r="r" b="b" t="t" l="l"/>
              <a:pathLst>
                <a:path h="850641" w="738809">
                  <a:moveTo>
                    <a:pt x="0" y="0"/>
                  </a:moveTo>
                  <a:lnTo>
                    <a:pt x="738809" y="0"/>
                  </a:lnTo>
                  <a:lnTo>
                    <a:pt x="738809" y="850641"/>
                  </a:lnTo>
                  <a:lnTo>
                    <a:pt x="0" y="850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568" t="0" r="-7572" b="-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95110" y="7569038"/>
            <a:ext cx="7848890" cy="1396620"/>
            <a:chOff x="0" y="0"/>
            <a:chExt cx="9721500" cy="172983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21500" cy="1729830"/>
            </a:xfrm>
            <a:custGeom>
              <a:avLst/>
              <a:gdLst/>
              <a:ahLst/>
              <a:cxnLst/>
              <a:rect r="r" b="b" t="t" l="l"/>
              <a:pathLst>
                <a:path h="1729830" w="9721500">
                  <a:moveTo>
                    <a:pt x="0" y="0"/>
                  </a:moveTo>
                  <a:lnTo>
                    <a:pt x="9721500" y="0"/>
                  </a:lnTo>
                  <a:lnTo>
                    <a:pt x="9721500" y="1729830"/>
                  </a:lnTo>
                  <a:lnTo>
                    <a:pt x="0" y="17298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367" r="-3465" b="-5823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721500" cy="1777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Reliability-aware analysis : flags low-confidence predictions instead of guessing silently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0" y="2756866"/>
            <a:ext cx="8563852" cy="6208792"/>
            <a:chOff x="0" y="0"/>
            <a:chExt cx="10972800" cy="7955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7955280"/>
            </a:xfrm>
            <a:custGeom>
              <a:avLst/>
              <a:gdLst/>
              <a:ahLst/>
              <a:cxnLst/>
              <a:rect r="r" b="b" t="t" l="l"/>
              <a:pathLst>
                <a:path h="7955280" w="10972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89920" y="0"/>
                  </a:lnTo>
                  <a:cubicBezTo>
                    <a:pt x="10890885" y="0"/>
                    <a:pt x="10972800" y="81915"/>
                    <a:pt x="10972800" y="182880"/>
                  </a:cubicBezTo>
                  <a:lnTo>
                    <a:pt x="10972800" y="7772400"/>
                  </a:lnTo>
                  <a:cubicBezTo>
                    <a:pt x="10972800" y="7873365"/>
                    <a:pt x="10890885" y="7955280"/>
                    <a:pt x="1078992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39305" y="3236737"/>
            <a:ext cx="7973241" cy="605098"/>
            <a:chOff x="0" y="0"/>
            <a:chExt cx="9875520" cy="7494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875520" cy="749464"/>
            </a:xfrm>
            <a:custGeom>
              <a:avLst/>
              <a:gdLst/>
              <a:ahLst/>
              <a:cxnLst/>
              <a:rect r="r" b="b" t="t" l="l"/>
              <a:pathLst>
                <a:path h="749464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749464"/>
                  </a:lnTo>
                  <a:lnTo>
                    <a:pt x="0" y="7494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047" r="0" b="-19945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9875520" cy="816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23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INNOVATION &amp; UNIQUENESS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39305" y="4186505"/>
            <a:ext cx="738263" cy="738263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527897" y="4275097"/>
            <a:ext cx="561080" cy="561080"/>
            <a:chOff x="0" y="0"/>
            <a:chExt cx="694944" cy="694944"/>
          </a:xfrm>
        </p:grpSpPr>
        <p:sp>
          <p:nvSpPr>
            <p:cNvPr name="Freeform 46" id="46" descr="icon_link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399047" y="4118060"/>
            <a:ext cx="7161152" cy="422812"/>
            <a:chOff x="0" y="0"/>
            <a:chExt cx="8869680" cy="5236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869680" cy="523688"/>
            </a:xfrm>
            <a:custGeom>
              <a:avLst/>
              <a:gdLst/>
              <a:ahLst/>
              <a:cxnLst/>
              <a:rect r="r" b="b" t="t" l="l"/>
              <a:pathLst>
                <a:path h="523688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523688"/>
                  </a:lnTo>
                  <a:lnTo>
                    <a:pt x="0" y="5236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635" r="0" b="-28239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869680" cy="571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Overlapping-organism resolution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387118" y="4398067"/>
            <a:ext cx="7161152" cy="812089"/>
            <a:chOff x="0" y="0"/>
            <a:chExt cx="8869680" cy="1005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869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822" r="0" b="-12182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8696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Separates and correctly counts organisms that touch or overlap in frame — a major failure point for past detectors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39305" y="5412022"/>
            <a:ext cx="738263" cy="738263"/>
            <a:chOff x="0" y="0"/>
            <a:chExt cx="91440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527897" y="5500614"/>
            <a:ext cx="561080" cy="561080"/>
            <a:chOff x="0" y="0"/>
            <a:chExt cx="694944" cy="694944"/>
          </a:xfrm>
        </p:grpSpPr>
        <p:sp>
          <p:nvSpPr>
            <p:cNvPr name="Freeform 56" id="56" descr="icon_expand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399047" y="5323431"/>
            <a:ext cx="7161152" cy="442958"/>
            <a:chOff x="0" y="0"/>
            <a:chExt cx="886968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869680" cy="548640"/>
            </a:xfrm>
            <a:custGeom>
              <a:avLst/>
              <a:gdLst/>
              <a:ahLst/>
              <a:cxnLst/>
              <a:rect r="r" b="b" t="t" l="l"/>
              <a:pathLst>
                <a:path h="5486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008" r="0" b="-26500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8869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Chain-organism detection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387118" y="5544910"/>
            <a:ext cx="7161152" cy="812089"/>
            <a:chOff x="0" y="0"/>
            <a:chExt cx="8869680" cy="1005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869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822" r="0" b="-12182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8696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Explicitly models chain-forming species (e.g. diatom chains) instead of treating a chain as one blob or missing it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439305" y="6637539"/>
            <a:ext cx="738263" cy="738263"/>
            <a:chOff x="0" y="0"/>
            <a:chExt cx="91440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527897" y="6726130"/>
            <a:ext cx="561080" cy="561080"/>
            <a:chOff x="0" y="0"/>
            <a:chExt cx="694944" cy="694944"/>
          </a:xfrm>
        </p:grpSpPr>
        <p:sp>
          <p:nvSpPr>
            <p:cNvPr name="Freeform 66" id="66" descr="icon_brain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399047" y="6548947"/>
            <a:ext cx="7161152" cy="442958"/>
            <a:chOff x="0" y="0"/>
            <a:chExt cx="886968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869680" cy="548640"/>
            </a:xfrm>
            <a:custGeom>
              <a:avLst/>
              <a:gdLst/>
              <a:ahLst/>
              <a:cxnLst/>
              <a:rect r="r" b="b" t="t" l="l"/>
              <a:pathLst>
                <a:path h="5486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008" r="0" b="-26500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869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Diversity-driven model improvement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399047" y="6806241"/>
            <a:ext cx="7161152" cy="812089"/>
            <a:chOff x="0" y="0"/>
            <a:chExt cx="8869680" cy="1005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8696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822" r="0" b="-12182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8696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Targets confusable species with curated external data (WHOI) rather than blindly adding more images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439305" y="7863056"/>
            <a:ext cx="738263" cy="738263"/>
            <a:chOff x="0" y="0"/>
            <a:chExt cx="914400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527897" y="7951647"/>
            <a:ext cx="561080" cy="561080"/>
            <a:chOff x="0" y="0"/>
            <a:chExt cx="694944" cy="694944"/>
          </a:xfrm>
        </p:grpSpPr>
        <p:sp>
          <p:nvSpPr>
            <p:cNvPr name="Freeform 76" id="76" descr="icon_chip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399047" y="7951647"/>
            <a:ext cx="7161152" cy="442958"/>
            <a:chOff x="0" y="0"/>
            <a:chExt cx="886968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869680" cy="548640"/>
            </a:xfrm>
            <a:custGeom>
              <a:avLst/>
              <a:gdLst/>
              <a:ahLst/>
              <a:cxnLst/>
              <a:rect r="r" b="b" t="t" l="l"/>
              <a:pathLst>
                <a:path h="5486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008" r="0" b="-26500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8869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edge deployment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19446" y="1531820"/>
            <a:ext cx="16448763" cy="1430327"/>
            <a:chOff x="0" y="0"/>
            <a:chExt cx="21031200" cy="1828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031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2103120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9"/>
                </a:lnSpc>
              </a:pPr>
              <a:r>
                <a:rPr lang="en-US" b="true" sz="2324" i="true">
                  <a:solidFill>
                    <a:srgbClr val="00000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We convert an ordinary microscope into an intelligent, semi-autonomous marine monitoring instrument that captures, detects, classifies and counts microscopic marine organisms ; flagging unreliable predictions and resolving overlapping and chain-forming organisms in real time.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188209" y="34335"/>
            <a:ext cx="2946132" cy="1497485"/>
            <a:chOff x="0" y="0"/>
            <a:chExt cx="4418241" cy="2245741"/>
          </a:xfrm>
        </p:grpSpPr>
        <p:sp>
          <p:nvSpPr>
            <p:cNvPr name="Freeform 84" id="84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9312"/>
            <a:ext cx="18288000" cy="547688"/>
            <a:chOff x="0" y="0"/>
            <a:chExt cx="243840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30250"/>
            </a:xfrm>
            <a:custGeom>
              <a:avLst/>
              <a:gdLst/>
              <a:ahLst/>
              <a:cxnLst/>
              <a:rect r="r" b="b" t="t" l="l"/>
              <a:pathLst>
                <a:path h="7302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5972" y="-35035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5972" y="-371789"/>
            <a:ext cx="16459200" cy="1735931"/>
            <a:chOff x="0" y="0"/>
            <a:chExt cx="21945600" cy="2314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314575"/>
            </a:xfrm>
            <a:custGeom>
              <a:avLst/>
              <a:gdLst/>
              <a:ahLst/>
              <a:cxnLst/>
              <a:rect r="r" b="b" t="t" l="l"/>
              <a:pathLst>
                <a:path h="23145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747" r="0" b="-13474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20800" y="9739312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020800" y="9725025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Freeform 14" id="14" descr="Your startup LOGO"/>
          <p:cNvSpPr/>
          <p:nvPr/>
        </p:nvSpPr>
        <p:spPr>
          <a:xfrm flipH="false" flipV="false" rot="0">
            <a:off x="26899" y="110947"/>
            <a:ext cx="1778127" cy="1090041"/>
          </a:xfrm>
          <a:custGeom>
            <a:avLst/>
            <a:gdLst/>
            <a:ahLst/>
            <a:cxnLst/>
            <a:rect r="r" b="b" t="t" l="l"/>
            <a:pathLst>
              <a:path h="1090041" w="1778127">
                <a:moveTo>
                  <a:pt x="0" y="0"/>
                </a:moveTo>
                <a:lnTo>
                  <a:pt x="1778127" y="0"/>
                </a:lnTo>
                <a:lnTo>
                  <a:pt x="1778127" y="1090041"/>
                </a:lnTo>
                <a:lnTo>
                  <a:pt x="0" y="1090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079697" y="1947672"/>
            <a:ext cx="3909060" cy="1440180"/>
            <a:chOff x="0" y="0"/>
            <a:chExt cx="5212080" cy="192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120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1773936"/>
                  </a:lnTo>
                  <a:cubicBezTo>
                    <a:pt x="5212080" y="1854708"/>
                    <a:pt x="5146548" y="1920240"/>
                    <a:pt x="506577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079697" y="2099748"/>
            <a:ext cx="987552" cy="987552"/>
            <a:chOff x="0" y="0"/>
            <a:chExt cx="1316736" cy="13167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222572" y="2182044"/>
            <a:ext cx="750541" cy="750541"/>
            <a:chOff x="0" y="0"/>
            <a:chExt cx="1000722" cy="1000722"/>
          </a:xfrm>
        </p:grpSpPr>
        <p:sp>
          <p:nvSpPr>
            <p:cNvPr name="Freeform 20" id="20" descr="icon_camera.png"/>
            <p:cNvSpPr/>
            <p:nvPr/>
          </p:nvSpPr>
          <p:spPr>
            <a:xfrm flipH="false" flipV="false" rot="0">
              <a:off x="0" y="0"/>
              <a:ext cx="1000760" cy="1000760"/>
            </a:xfrm>
            <a:custGeom>
              <a:avLst/>
              <a:gdLst/>
              <a:ahLst/>
              <a:cxnLst/>
              <a:rect r="r" b="b" t="t" l="l"/>
              <a:pathLst>
                <a:path h="1000760" w="1000760">
                  <a:moveTo>
                    <a:pt x="0" y="0"/>
                  </a:moveTo>
                  <a:lnTo>
                    <a:pt x="1000760" y="0"/>
                  </a:lnTo>
                  <a:lnTo>
                    <a:pt x="100076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295849" y="2297430"/>
            <a:ext cx="2468880" cy="480060"/>
            <a:chOff x="0" y="0"/>
            <a:chExt cx="329184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291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Motorized microscope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372049" y="2455164"/>
            <a:ext cx="2468880" cy="685800"/>
            <a:chOff x="0" y="0"/>
            <a:chExt cx="329184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291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 focus &amp; scan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5976" y="1181938"/>
            <a:ext cx="36385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Stack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6161" y="1962836"/>
            <a:ext cx="7691618" cy="41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619" indent="-201873" lvl="2">
              <a:lnSpc>
                <a:spcPts val="3179"/>
              </a:lnSpc>
              <a:buFont typeface="Arial"/>
              <a:buChar char="⚬"/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35026" y="3892677"/>
            <a:ext cx="1110424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Workflow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5211" y="494033"/>
            <a:ext cx="1239631" cy="30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58ED5"/>
                </a:solidFill>
                <a:latin typeface="Arial Bold"/>
                <a:ea typeface="Arial Bold"/>
                <a:cs typeface="Arial Bold"/>
                <a:sym typeface="Arial Bold"/>
              </a:rPr>
              <a:t>BIOHACK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903937" y="1896542"/>
            <a:ext cx="3909060" cy="1440180"/>
            <a:chOff x="0" y="0"/>
            <a:chExt cx="5212080" cy="1920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120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1773936"/>
                  </a:lnTo>
                  <a:cubicBezTo>
                    <a:pt x="5212080" y="1854708"/>
                    <a:pt x="5146548" y="1920240"/>
                    <a:pt x="506577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109677" y="2102282"/>
            <a:ext cx="987552" cy="987552"/>
            <a:chOff x="0" y="0"/>
            <a:chExt cx="1316736" cy="13167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228187" y="2220792"/>
            <a:ext cx="750541" cy="750541"/>
            <a:chOff x="0" y="0"/>
            <a:chExt cx="1000722" cy="1000722"/>
          </a:xfrm>
        </p:grpSpPr>
        <p:sp>
          <p:nvSpPr>
            <p:cNvPr name="Freeform 36" id="36" descr="icon_server.png"/>
            <p:cNvSpPr/>
            <p:nvPr/>
          </p:nvSpPr>
          <p:spPr>
            <a:xfrm flipH="false" flipV="false" rot="0">
              <a:off x="0" y="0"/>
              <a:ext cx="1000760" cy="1000760"/>
            </a:xfrm>
            <a:custGeom>
              <a:avLst/>
              <a:gdLst/>
              <a:ahLst/>
              <a:cxnLst/>
              <a:rect r="r" b="b" t="t" l="l"/>
              <a:pathLst>
                <a:path h="1000760" w="1000760">
                  <a:moveTo>
                    <a:pt x="0" y="0"/>
                  </a:moveTo>
                  <a:lnTo>
                    <a:pt x="1000760" y="0"/>
                  </a:lnTo>
                  <a:lnTo>
                    <a:pt x="100076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3" b="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258392" y="2269617"/>
            <a:ext cx="2468880" cy="480060"/>
            <a:chOff x="0" y="0"/>
            <a:chExt cx="329184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3291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ESP32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248105" y="2458898"/>
            <a:ext cx="2468880" cy="685800"/>
            <a:chOff x="0" y="0"/>
            <a:chExt cx="329184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291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XYZ motor control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1947672"/>
            <a:ext cx="3909060" cy="1440180"/>
            <a:chOff x="0" y="0"/>
            <a:chExt cx="5212080" cy="1920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120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1773936"/>
                  </a:lnTo>
                  <a:cubicBezTo>
                    <a:pt x="5212080" y="1854708"/>
                    <a:pt x="5146548" y="1920240"/>
                    <a:pt x="506577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28700" y="2153412"/>
            <a:ext cx="987552" cy="987552"/>
            <a:chOff x="0" y="0"/>
            <a:chExt cx="1316736" cy="13167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47210" y="2271922"/>
            <a:ext cx="750541" cy="750541"/>
            <a:chOff x="0" y="0"/>
            <a:chExt cx="1000722" cy="1000722"/>
          </a:xfrm>
        </p:grpSpPr>
        <p:sp>
          <p:nvSpPr>
            <p:cNvPr name="Freeform 48" id="48" descr="icon_chip.png"/>
            <p:cNvSpPr/>
            <p:nvPr/>
          </p:nvSpPr>
          <p:spPr>
            <a:xfrm flipH="false" flipV="false" rot="0">
              <a:off x="0" y="0"/>
              <a:ext cx="1000760" cy="1000760"/>
            </a:xfrm>
            <a:custGeom>
              <a:avLst/>
              <a:gdLst/>
              <a:ahLst/>
              <a:cxnLst/>
              <a:rect r="r" b="b" t="t" l="l"/>
              <a:pathLst>
                <a:path h="1000760" w="1000760">
                  <a:moveTo>
                    <a:pt x="0" y="0"/>
                  </a:moveTo>
                  <a:lnTo>
                    <a:pt x="1000760" y="0"/>
                  </a:lnTo>
                  <a:lnTo>
                    <a:pt x="100076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3" b="3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2130257" y="2297430"/>
            <a:ext cx="2468880" cy="480060"/>
            <a:chOff x="0" y="0"/>
            <a:chExt cx="329184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3291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Raspberry Pi 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130257" y="2510028"/>
            <a:ext cx="2468880" cy="685800"/>
            <a:chOff x="0" y="0"/>
            <a:chExt cx="329184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291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Edge compute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297662" y="1947672"/>
            <a:ext cx="3909060" cy="1440180"/>
            <a:chOff x="0" y="0"/>
            <a:chExt cx="5212080" cy="1920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120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1773936"/>
                  </a:lnTo>
                  <a:cubicBezTo>
                    <a:pt x="5212080" y="1854708"/>
                    <a:pt x="5146548" y="1920240"/>
                    <a:pt x="506577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373100" y="2153412"/>
            <a:ext cx="987552" cy="987552"/>
            <a:chOff x="0" y="0"/>
            <a:chExt cx="1316736" cy="13167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491610" y="2271922"/>
            <a:ext cx="750541" cy="750541"/>
            <a:chOff x="0" y="0"/>
            <a:chExt cx="1000722" cy="1000722"/>
          </a:xfrm>
        </p:grpSpPr>
        <p:sp>
          <p:nvSpPr>
            <p:cNvPr name="Freeform 60" id="60" descr="icon_brain.png"/>
            <p:cNvSpPr/>
            <p:nvPr/>
          </p:nvSpPr>
          <p:spPr>
            <a:xfrm flipH="false" flipV="false" rot="0">
              <a:off x="0" y="0"/>
              <a:ext cx="1000760" cy="1000760"/>
            </a:xfrm>
            <a:custGeom>
              <a:avLst/>
              <a:gdLst/>
              <a:ahLst/>
              <a:cxnLst/>
              <a:rect r="r" b="b" t="t" l="l"/>
              <a:pathLst>
                <a:path h="1000760" w="1000760">
                  <a:moveTo>
                    <a:pt x="0" y="0"/>
                  </a:moveTo>
                  <a:lnTo>
                    <a:pt x="1000760" y="0"/>
                  </a:lnTo>
                  <a:lnTo>
                    <a:pt x="100076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3" b="3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511528" y="2321738"/>
            <a:ext cx="2468880" cy="480060"/>
            <a:chOff x="0" y="0"/>
            <a:chExt cx="3291840" cy="640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32918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YOLO11n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511528" y="2510028"/>
            <a:ext cx="2468880" cy="685800"/>
            <a:chOff x="0" y="0"/>
            <a:chExt cx="3291840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291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Detection + classification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4594860"/>
            <a:ext cx="2715768" cy="4251960"/>
            <a:chOff x="0" y="0"/>
            <a:chExt cx="3621024" cy="5669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21024" cy="5669280"/>
            </a:xfrm>
            <a:custGeom>
              <a:avLst/>
              <a:gdLst/>
              <a:ahLst/>
              <a:cxnLst/>
              <a:rect r="r" b="b" t="t" l="l"/>
              <a:pathLst>
                <a:path h="5669280" w="36210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74720" y="0"/>
                  </a:lnTo>
                  <a:cubicBezTo>
                    <a:pt x="3555492" y="0"/>
                    <a:pt x="3621024" y="65532"/>
                    <a:pt x="3621024" y="146304"/>
                  </a:cubicBezTo>
                  <a:lnTo>
                    <a:pt x="3621024" y="5522976"/>
                  </a:lnTo>
                  <a:cubicBezTo>
                    <a:pt x="3621024" y="5603748"/>
                    <a:pt x="3555492" y="5669280"/>
                    <a:pt x="3474720" y="5669280"/>
                  </a:cubicBezTo>
                  <a:lnTo>
                    <a:pt x="146304" y="5669280"/>
                  </a:lnTo>
                  <a:cubicBezTo>
                    <a:pt x="65532" y="5669280"/>
                    <a:pt x="0" y="5603748"/>
                    <a:pt x="0" y="5522976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2112264" y="4841748"/>
            <a:ext cx="548640" cy="548640"/>
            <a:chOff x="0" y="0"/>
            <a:chExt cx="73152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2108073" y="4841748"/>
            <a:ext cx="548640" cy="548640"/>
            <a:chOff x="0" y="0"/>
            <a:chExt cx="73152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700784" y="5582412"/>
            <a:ext cx="960120" cy="960120"/>
            <a:chOff x="0" y="0"/>
            <a:chExt cx="1280160" cy="12801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815998" y="5697626"/>
            <a:ext cx="729691" cy="729691"/>
            <a:chOff x="0" y="0"/>
            <a:chExt cx="972922" cy="972922"/>
          </a:xfrm>
        </p:grpSpPr>
        <p:sp>
          <p:nvSpPr>
            <p:cNvPr name="Freeform 77" id="77" descr="icon_camera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1051560" y="6737985"/>
            <a:ext cx="2258568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Image Acquisition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00973" y="7437882"/>
            <a:ext cx="225856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Motorized XYZ scan of Sedgwick-Rafter chamber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3511296" y="6309360"/>
            <a:ext cx="329184" cy="822960"/>
            <a:chOff x="0" y="0"/>
            <a:chExt cx="438912" cy="10972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66675"/>
              <a:ext cx="43891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D1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3675888" y="4594860"/>
            <a:ext cx="2715768" cy="4251960"/>
            <a:chOff x="0" y="0"/>
            <a:chExt cx="3621024" cy="5669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621024" cy="5669280"/>
            </a:xfrm>
            <a:custGeom>
              <a:avLst/>
              <a:gdLst/>
              <a:ahLst/>
              <a:cxnLst/>
              <a:rect r="r" b="b" t="t" l="l"/>
              <a:pathLst>
                <a:path h="5669280" w="36210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74720" y="0"/>
                  </a:lnTo>
                  <a:cubicBezTo>
                    <a:pt x="3555492" y="0"/>
                    <a:pt x="3621024" y="65532"/>
                    <a:pt x="3621024" y="146304"/>
                  </a:cubicBezTo>
                  <a:lnTo>
                    <a:pt x="3621024" y="5522976"/>
                  </a:lnTo>
                  <a:cubicBezTo>
                    <a:pt x="3621024" y="5603748"/>
                    <a:pt x="3555492" y="5669280"/>
                    <a:pt x="3474720" y="5669280"/>
                  </a:cubicBezTo>
                  <a:lnTo>
                    <a:pt x="146304" y="5669280"/>
                  </a:lnTo>
                  <a:cubicBezTo>
                    <a:pt x="65532" y="5669280"/>
                    <a:pt x="0" y="5603748"/>
                    <a:pt x="0" y="5522976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4965192" y="4841748"/>
            <a:ext cx="548640" cy="548640"/>
            <a:chOff x="0" y="0"/>
            <a:chExt cx="73152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4965192" y="4841748"/>
            <a:ext cx="548640" cy="548640"/>
            <a:chOff x="0" y="0"/>
            <a:chExt cx="731520" cy="7315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4553712" y="5582412"/>
            <a:ext cx="960120" cy="960120"/>
            <a:chOff x="0" y="0"/>
            <a:chExt cx="1280160" cy="12801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668926" y="5697626"/>
            <a:ext cx="729691" cy="729691"/>
            <a:chOff x="0" y="0"/>
            <a:chExt cx="972922" cy="972922"/>
          </a:xfrm>
        </p:grpSpPr>
        <p:sp>
          <p:nvSpPr>
            <p:cNvPr name="Freeform 93" id="93" descr="icon_layer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2" b="2"/>
              </a:stretch>
            </a:blip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3904488" y="6737985"/>
            <a:ext cx="2258568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Preprocessing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3840480" y="7538463"/>
            <a:ext cx="2322576" cy="508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1"/>
              </a:lnSpc>
            </a:pPr>
            <a:r>
              <a:rPr lang="en-US" sz="154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Enhancement &amp; noise cleanup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6364224" y="6309360"/>
            <a:ext cx="329184" cy="822960"/>
            <a:chOff x="0" y="0"/>
            <a:chExt cx="438912" cy="10972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66675"/>
              <a:ext cx="43891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D1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6528816" y="4594860"/>
            <a:ext cx="2715768" cy="4251960"/>
            <a:chOff x="0" y="0"/>
            <a:chExt cx="3621024" cy="56692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621024" cy="5669280"/>
            </a:xfrm>
            <a:custGeom>
              <a:avLst/>
              <a:gdLst/>
              <a:ahLst/>
              <a:cxnLst/>
              <a:rect r="r" b="b" t="t" l="l"/>
              <a:pathLst>
                <a:path h="5669280" w="36210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74720" y="0"/>
                  </a:lnTo>
                  <a:cubicBezTo>
                    <a:pt x="3555492" y="0"/>
                    <a:pt x="3621024" y="65532"/>
                    <a:pt x="3621024" y="146304"/>
                  </a:cubicBezTo>
                  <a:lnTo>
                    <a:pt x="3621024" y="5522976"/>
                  </a:lnTo>
                  <a:cubicBezTo>
                    <a:pt x="3621024" y="5603748"/>
                    <a:pt x="3555492" y="5669280"/>
                    <a:pt x="3474720" y="5669280"/>
                  </a:cubicBezTo>
                  <a:lnTo>
                    <a:pt x="146304" y="5669280"/>
                  </a:lnTo>
                  <a:cubicBezTo>
                    <a:pt x="65532" y="5669280"/>
                    <a:pt x="0" y="5603748"/>
                    <a:pt x="0" y="5522976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7818120" y="4841748"/>
            <a:ext cx="548640" cy="548640"/>
            <a:chOff x="0" y="0"/>
            <a:chExt cx="73152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7818120" y="4841748"/>
            <a:ext cx="548640" cy="548640"/>
            <a:chOff x="0" y="0"/>
            <a:chExt cx="73152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406640" y="5582412"/>
            <a:ext cx="960120" cy="960120"/>
            <a:chOff x="0" y="0"/>
            <a:chExt cx="1280160" cy="128016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7521854" y="5697626"/>
            <a:ext cx="729691" cy="729691"/>
            <a:chOff x="0" y="0"/>
            <a:chExt cx="972922" cy="972922"/>
          </a:xfrm>
        </p:grpSpPr>
        <p:sp>
          <p:nvSpPr>
            <p:cNvPr name="Freeform 109" id="109" descr="icon_target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2" b="2"/>
              </a:stretch>
            </a:blipFill>
          </p:spPr>
        </p:sp>
      </p:grpSp>
      <p:sp>
        <p:nvSpPr>
          <p:cNvPr name="TextBox 110" id="110"/>
          <p:cNvSpPr txBox="true"/>
          <p:nvPr/>
        </p:nvSpPr>
        <p:spPr>
          <a:xfrm rot="0">
            <a:off x="6757416" y="6737985"/>
            <a:ext cx="2258568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Detection &amp; Classification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6667073" y="7545705"/>
            <a:ext cx="234891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1"/>
              </a:lnSpc>
            </a:pPr>
            <a:r>
              <a:rPr lang="en-US" sz="132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YOLO11n locates + names organisms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9217152" y="6309360"/>
            <a:ext cx="329184" cy="822960"/>
            <a:chOff x="0" y="0"/>
            <a:chExt cx="438912" cy="109728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66675"/>
              <a:ext cx="43891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D1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381744" y="4594860"/>
            <a:ext cx="2715768" cy="4251960"/>
            <a:chOff x="0" y="0"/>
            <a:chExt cx="3621024" cy="566928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621024" cy="5669280"/>
            </a:xfrm>
            <a:custGeom>
              <a:avLst/>
              <a:gdLst/>
              <a:ahLst/>
              <a:cxnLst/>
              <a:rect r="r" b="b" t="t" l="l"/>
              <a:pathLst>
                <a:path h="5669280" w="36210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74720" y="0"/>
                  </a:lnTo>
                  <a:cubicBezTo>
                    <a:pt x="3555492" y="0"/>
                    <a:pt x="3621024" y="65532"/>
                    <a:pt x="3621024" y="146304"/>
                  </a:cubicBezTo>
                  <a:lnTo>
                    <a:pt x="3621024" y="5522976"/>
                  </a:lnTo>
                  <a:cubicBezTo>
                    <a:pt x="3621024" y="5603748"/>
                    <a:pt x="3555492" y="5669280"/>
                    <a:pt x="3474720" y="5669280"/>
                  </a:cubicBezTo>
                  <a:lnTo>
                    <a:pt x="146304" y="5669280"/>
                  </a:lnTo>
                  <a:cubicBezTo>
                    <a:pt x="65532" y="5669280"/>
                    <a:pt x="0" y="5603748"/>
                    <a:pt x="0" y="5522976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671048" y="4841748"/>
            <a:ext cx="548640" cy="548640"/>
            <a:chOff x="0" y="0"/>
            <a:chExt cx="731520" cy="73152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0671048" y="4841748"/>
            <a:ext cx="548640" cy="548640"/>
            <a:chOff x="0" y="0"/>
            <a:chExt cx="731520" cy="7315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259568" y="5582412"/>
            <a:ext cx="960120" cy="960120"/>
            <a:chOff x="0" y="0"/>
            <a:chExt cx="1280160" cy="12801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0374782" y="5697626"/>
            <a:ext cx="729691" cy="729691"/>
            <a:chOff x="0" y="0"/>
            <a:chExt cx="972922" cy="972922"/>
          </a:xfrm>
        </p:grpSpPr>
        <p:sp>
          <p:nvSpPr>
            <p:cNvPr name="Freeform 125" id="125" descr="icon_link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2" b="2"/>
              </a:stretch>
            </a:blipFill>
          </p:spPr>
        </p:sp>
      </p:grpSp>
      <p:sp>
        <p:nvSpPr>
          <p:cNvPr name="TextBox 126" id="126"/>
          <p:cNvSpPr txBox="true"/>
          <p:nvPr/>
        </p:nvSpPr>
        <p:spPr>
          <a:xfrm rot="0">
            <a:off x="9610344" y="6737985"/>
            <a:ext cx="2258568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Overlap / Chain Analysis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9381744" y="7522382"/>
            <a:ext cx="2487168" cy="44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4"/>
              </a:lnSpc>
            </a:pPr>
            <a:r>
              <a:rPr lang="en-US" sz="140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Resolves touching &amp; chain-forming organisms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12070080" y="6309360"/>
            <a:ext cx="329184" cy="822960"/>
            <a:chOff x="0" y="0"/>
            <a:chExt cx="438912" cy="109728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66675"/>
              <a:ext cx="43891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D1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2234672" y="4594860"/>
            <a:ext cx="2715768" cy="4251960"/>
            <a:chOff x="0" y="0"/>
            <a:chExt cx="3621024" cy="566928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621024" cy="5669280"/>
            </a:xfrm>
            <a:custGeom>
              <a:avLst/>
              <a:gdLst/>
              <a:ahLst/>
              <a:cxnLst/>
              <a:rect r="r" b="b" t="t" l="l"/>
              <a:pathLst>
                <a:path h="5669280" w="36210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74720" y="0"/>
                  </a:lnTo>
                  <a:cubicBezTo>
                    <a:pt x="3555492" y="0"/>
                    <a:pt x="3621024" y="65532"/>
                    <a:pt x="3621024" y="146304"/>
                  </a:cubicBezTo>
                  <a:lnTo>
                    <a:pt x="3621024" y="5522976"/>
                  </a:lnTo>
                  <a:cubicBezTo>
                    <a:pt x="3621024" y="5603748"/>
                    <a:pt x="3555492" y="5669280"/>
                    <a:pt x="3474720" y="5669280"/>
                  </a:cubicBezTo>
                  <a:lnTo>
                    <a:pt x="146304" y="5669280"/>
                  </a:lnTo>
                  <a:cubicBezTo>
                    <a:pt x="65532" y="5669280"/>
                    <a:pt x="0" y="5603748"/>
                    <a:pt x="0" y="5522976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3523976" y="4841748"/>
            <a:ext cx="548640" cy="548640"/>
            <a:chOff x="0" y="0"/>
            <a:chExt cx="731520" cy="73152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3523976" y="4841748"/>
            <a:ext cx="548640" cy="548640"/>
            <a:chOff x="0" y="0"/>
            <a:chExt cx="731520" cy="73152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3112496" y="5582412"/>
            <a:ext cx="960120" cy="960120"/>
            <a:chOff x="0" y="0"/>
            <a:chExt cx="1280160" cy="128016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3227710" y="5697626"/>
            <a:ext cx="729691" cy="729691"/>
            <a:chOff x="0" y="0"/>
            <a:chExt cx="972922" cy="972922"/>
          </a:xfrm>
        </p:grpSpPr>
        <p:sp>
          <p:nvSpPr>
            <p:cNvPr name="Freeform 141" id="141" descr="icon_shield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2" b="2"/>
              </a:stretch>
            </a:blipFill>
          </p:spPr>
        </p:sp>
      </p:grpSp>
      <p:sp>
        <p:nvSpPr>
          <p:cNvPr name="TextBox 142" id="142"/>
          <p:cNvSpPr txBox="true"/>
          <p:nvPr/>
        </p:nvSpPr>
        <p:spPr>
          <a:xfrm rot="0">
            <a:off x="12463272" y="6737985"/>
            <a:ext cx="2258568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Confidence Check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2230862" y="7541342"/>
            <a:ext cx="2490978" cy="23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40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Flags unreliable predictions</a:t>
            </a:r>
          </a:p>
        </p:txBody>
      </p:sp>
      <p:grpSp>
        <p:nvGrpSpPr>
          <p:cNvPr name="Group 144" id="144"/>
          <p:cNvGrpSpPr/>
          <p:nvPr/>
        </p:nvGrpSpPr>
        <p:grpSpPr>
          <a:xfrm rot="0">
            <a:off x="14923008" y="6309360"/>
            <a:ext cx="329184" cy="822960"/>
            <a:chOff x="0" y="0"/>
            <a:chExt cx="438912" cy="109728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38912" cy="1097280"/>
            </a:xfrm>
            <a:custGeom>
              <a:avLst/>
              <a:gdLst/>
              <a:ahLst/>
              <a:cxnLst/>
              <a:rect r="r" b="b" t="t" l="l"/>
              <a:pathLst>
                <a:path h="109728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758" t="0" r="-270758" b="0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66675"/>
              <a:ext cx="438912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D1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5087600" y="4594860"/>
            <a:ext cx="2715768" cy="4251960"/>
            <a:chOff x="0" y="0"/>
            <a:chExt cx="3621024" cy="566928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3621024" cy="5669280"/>
            </a:xfrm>
            <a:custGeom>
              <a:avLst/>
              <a:gdLst/>
              <a:ahLst/>
              <a:cxnLst/>
              <a:rect r="r" b="b" t="t" l="l"/>
              <a:pathLst>
                <a:path h="5669280" w="36210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474720" y="0"/>
                  </a:lnTo>
                  <a:cubicBezTo>
                    <a:pt x="3555492" y="0"/>
                    <a:pt x="3621024" y="65532"/>
                    <a:pt x="3621024" y="146304"/>
                  </a:cubicBezTo>
                  <a:lnTo>
                    <a:pt x="3621024" y="5522976"/>
                  </a:lnTo>
                  <a:cubicBezTo>
                    <a:pt x="3621024" y="5603748"/>
                    <a:pt x="3555492" y="5669280"/>
                    <a:pt x="3474720" y="5669280"/>
                  </a:cubicBezTo>
                  <a:lnTo>
                    <a:pt x="146304" y="5669280"/>
                  </a:lnTo>
                  <a:cubicBezTo>
                    <a:pt x="65532" y="5669280"/>
                    <a:pt x="0" y="5603748"/>
                    <a:pt x="0" y="5522976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6376904" y="4841748"/>
            <a:ext cx="548640" cy="548640"/>
            <a:chOff x="0" y="0"/>
            <a:chExt cx="731520" cy="73152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6376904" y="4841748"/>
            <a:ext cx="548640" cy="548640"/>
            <a:chOff x="0" y="0"/>
            <a:chExt cx="731520" cy="73152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15965424" y="5582412"/>
            <a:ext cx="960120" cy="960120"/>
            <a:chOff x="0" y="0"/>
            <a:chExt cx="1280160" cy="128016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6080638" y="5697626"/>
            <a:ext cx="729691" cy="729691"/>
            <a:chOff x="0" y="0"/>
            <a:chExt cx="972922" cy="972922"/>
          </a:xfrm>
        </p:grpSpPr>
        <p:sp>
          <p:nvSpPr>
            <p:cNvPr name="Freeform 157" id="157" descr="icon_chart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2" b="2"/>
              </a:stretch>
            </a:blipFill>
          </p:spPr>
        </p:sp>
      </p:grpSp>
      <p:sp>
        <p:nvSpPr>
          <p:cNvPr name="TextBox 158" id="158"/>
          <p:cNvSpPr txBox="true"/>
          <p:nvPr/>
        </p:nvSpPr>
        <p:spPr>
          <a:xfrm rot="0">
            <a:off x="15316200" y="6737985"/>
            <a:ext cx="2258568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Species Counting &amp; Report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15087600" y="7560945"/>
            <a:ext cx="2487168" cy="23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4"/>
              </a:lnSpc>
            </a:pPr>
            <a:r>
              <a:rPr lang="en-US" sz="140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Biodiversity output at the edge</a:t>
            </a:r>
          </a:p>
        </p:txBody>
      </p:sp>
      <p:grpSp>
        <p:nvGrpSpPr>
          <p:cNvPr name="Group 160" id="160"/>
          <p:cNvGrpSpPr/>
          <p:nvPr/>
        </p:nvGrpSpPr>
        <p:grpSpPr>
          <a:xfrm rot="0">
            <a:off x="15088581" y="69641"/>
            <a:ext cx="3125286" cy="1588547"/>
            <a:chOff x="0" y="0"/>
            <a:chExt cx="4418241" cy="2245741"/>
          </a:xfrm>
        </p:grpSpPr>
        <p:sp>
          <p:nvSpPr>
            <p:cNvPr name="Freeform 161" id="161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6150"/>
            <a:ext cx="18288000" cy="550831"/>
            <a:chOff x="0" y="0"/>
            <a:chExt cx="24384000" cy="7344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34441"/>
            </a:xfrm>
            <a:custGeom>
              <a:avLst/>
              <a:gdLst/>
              <a:ahLst/>
              <a:cxnLst/>
              <a:rect r="r" b="b" t="t" l="l"/>
              <a:pathLst>
                <a:path h="73444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4441"/>
                  </a:lnTo>
                  <a:lnTo>
                    <a:pt x="0" y="734441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404031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425463"/>
            <a:ext cx="16459200" cy="1735931"/>
            <a:chOff x="0" y="0"/>
            <a:chExt cx="21945600" cy="2314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314575"/>
            </a:xfrm>
            <a:custGeom>
              <a:avLst/>
              <a:gdLst/>
              <a:ahLst/>
              <a:cxnLst/>
              <a:rect r="r" b="b" t="t" l="l"/>
              <a:pathLst>
                <a:path h="23145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747" r="0" b="-13474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20800" y="9736150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020800" y="9721863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Freeform 14" id="14" descr="Your startup LOGO"/>
          <p:cNvSpPr/>
          <p:nvPr/>
        </p:nvSpPr>
        <p:spPr>
          <a:xfrm flipH="false" flipV="false" rot="0">
            <a:off x="26899" y="110947"/>
            <a:ext cx="1778127" cy="1090041"/>
          </a:xfrm>
          <a:custGeom>
            <a:avLst/>
            <a:gdLst/>
            <a:ahLst/>
            <a:cxnLst/>
            <a:rect r="r" b="b" t="t" l="l"/>
            <a:pathLst>
              <a:path h="1090041" w="1778127">
                <a:moveTo>
                  <a:pt x="0" y="0"/>
                </a:moveTo>
                <a:lnTo>
                  <a:pt x="1778127" y="0"/>
                </a:lnTo>
                <a:lnTo>
                  <a:pt x="1778127" y="1090041"/>
                </a:lnTo>
                <a:lnTo>
                  <a:pt x="0" y="1090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0294" y="494033"/>
            <a:ext cx="1239631" cy="30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58ED5"/>
                </a:solidFill>
                <a:latin typeface="Arial Bold"/>
                <a:ea typeface="Arial Bold"/>
                <a:cs typeface="Arial Bold"/>
                <a:sym typeface="Arial Bold"/>
              </a:rPr>
              <a:t>BIOHACK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1371600"/>
            <a:ext cx="8229600" cy="595571"/>
            <a:chOff x="0" y="0"/>
            <a:chExt cx="10972800" cy="7940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794095"/>
            </a:xfrm>
            <a:custGeom>
              <a:avLst/>
              <a:gdLst/>
              <a:ahLst/>
              <a:cxnLst/>
              <a:rect r="r" b="b" t="t" l="l"/>
              <a:pathLst>
                <a:path h="79409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699" r="0" b="-20378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97280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 spc="24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 ANALYSIS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1920240"/>
            <a:ext cx="4046220" cy="3223260"/>
            <a:chOff x="0" y="0"/>
            <a:chExt cx="5394960" cy="4297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949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151376"/>
                  </a:lnTo>
                  <a:cubicBezTo>
                    <a:pt x="5394960" y="4232148"/>
                    <a:pt x="5329428" y="4297680"/>
                    <a:pt x="52486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2194560"/>
            <a:ext cx="822960" cy="822960"/>
            <a:chOff x="0" y="0"/>
            <a:chExt cx="109728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96035" y="2293315"/>
            <a:ext cx="625450" cy="625450"/>
            <a:chOff x="0" y="0"/>
            <a:chExt cx="833933" cy="833933"/>
          </a:xfrm>
        </p:grpSpPr>
        <p:sp>
          <p:nvSpPr>
            <p:cNvPr name="Freeform 24" id="24" descr="icon_chip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6" b="-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566160" y="2235708"/>
            <a:ext cx="1028700" cy="438912"/>
            <a:chOff x="0" y="0"/>
            <a:chExt cx="1371600" cy="5852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716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7160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280160" y="0"/>
                  </a:lnTo>
                  <a:cubicBezTo>
                    <a:pt x="1330706" y="0"/>
                    <a:pt x="1371600" y="40894"/>
                    <a:pt x="1371600" y="91440"/>
                  </a:cubicBezTo>
                  <a:lnTo>
                    <a:pt x="1371600" y="493776"/>
                  </a:lnTo>
                  <a:cubicBezTo>
                    <a:pt x="1371600" y="544322"/>
                    <a:pt x="1330706" y="585216"/>
                    <a:pt x="1280160" y="585216"/>
                  </a:cubicBezTo>
                  <a:lnTo>
                    <a:pt x="91440" y="585216"/>
                  </a:lnTo>
                  <a:cubicBezTo>
                    <a:pt x="40894" y="585216"/>
                    <a:pt x="0" y="544322"/>
                    <a:pt x="0" y="493776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566160" y="2235708"/>
            <a:ext cx="1028700" cy="438912"/>
            <a:chOff x="0" y="0"/>
            <a:chExt cx="137160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16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42" t="0" r="-474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37160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7280" y="3086100"/>
            <a:ext cx="3566160" cy="480060"/>
            <a:chOff x="0" y="0"/>
            <a:chExt cx="475488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9963" y="3188970"/>
            <a:ext cx="3620325" cy="1641113"/>
            <a:chOff x="0" y="0"/>
            <a:chExt cx="4754880" cy="215541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54880" cy="2155413"/>
            </a:xfrm>
            <a:custGeom>
              <a:avLst/>
              <a:gdLst/>
              <a:ahLst/>
              <a:cxnLst/>
              <a:rect r="r" b="b" t="t" l="l"/>
              <a:pathLst>
                <a:path h="2155413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155413"/>
                  </a:lnTo>
                  <a:lnTo>
                    <a:pt x="0" y="21554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282" t="0" r="-4282" b="666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754880" cy="2193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ESP32-controlled stepper motors drive XYZ positioning, focus, magnification &amp; illumination for optimized capture.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006340" y="1954530"/>
            <a:ext cx="4046220" cy="3223260"/>
            <a:chOff x="0" y="0"/>
            <a:chExt cx="5394960" cy="4297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49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151376"/>
                  </a:lnTo>
                  <a:cubicBezTo>
                    <a:pt x="5394960" y="4232148"/>
                    <a:pt x="5329428" y="4297680"/>
                    <a:pt x="52486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321808" y="2194560"/>
            <a:ext cx="822960" cy="822960"/>
            <a:chOff x="0" y="0"/>
            <a:chExt cx="1097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20563" y="2293315"/>
            <a:ext cx="625450" cy="625450"/>
            <a:chOff x="0" y="0"/>
            <a:chExt cx="833933" cy="833933"/>
          </a:xfrm>
        </p:grpSpPr>
        <p:sp>
          <p:nvSpPr>
            <p:cNvPr name="Freeform 41" id="41" descr="icon_brain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6" b="-6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790688" y="2235708"/>
            <a:ext cx="1028700" cy="438912"/>
            <a:chOff x="0" y="0"/>
            <a:chExt cx="1371600" cy="5852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716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7160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280160" y="0"/>
                  </a:lnTo>
                  <a:cubicBezTo>
                    <a:pt x="1330706" y="0"/>
                    <a:pt x="1371600" y="40894"/>
                    <a:pt x="1371600" y="91440"/>
                  </a:cubicBezTo>
                  <a:lnTo>
                    <a:pt x="1371600" y="493776"/>
                  </a:lnTo>
                  <a:cubicBezTo>
                    <a:pt x="1371600" y="544322"/>
                    <a:pt x="1330706" y="585216"/>
                    <a:pt x="1280160" y="585216"/>
                  </a:cubicBezTo>
                  <a:lnTo>
                    <a:pt x="91440" y="585216"/>
                  </a:lnTo>
                  <a:cubicBezTo>
                    <a:pt x="40894" y="585216"/>
                    <a:pt x="0" y="544322"/>
                    <a:pt x="0" y="493776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790688" y="2235708"/>
            <a:ext cx="1028700" cy="438912"/>
            <a:chOff x="0" y="0"/>
            <a:chExt cx="137160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716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42" t="0" r="-474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37160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321808" y="3086100"/>
            <a:ext cx="3566160" cy="480060"/>
            <a:chOff x="0" y="0"/>
            <a:chExt cx="4754880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&amp; Compute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321808" y="3566160"/>
            <a:ext cx="3566160" cy="902970"/>
            <a:chOff x="0" y="0"/>
            <a:chExt cx="4754880" cy="12039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54880" cy="1203960"/>
            </a:xfrm>
            <a:custGeom>
              <a:avLst/>
              <a:gdLst/>
              <a:ahLst/>
              <a:cxnLst/>
              <a:rect r="r" b="b" t="t" l="l"/>
              <a:pathLst>
                <a:path h="12039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203960"/>
                  </a:lnTo>
                  <a:lnTo>
                    <a:pt x="0" y="1203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282" t="0" r="-4282" b="-6708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754880" cy="1242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Lightweight YOLO11n runs locally on Raspberry Pi 4 — no dependency on high-end GPUs.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72016" y="1920240"/>
            <a:ext cx="4046220" cy="3223260"/>
            <a:chOff x="0" y="0"/>
            <a:chExt cx="5394960" cy="4297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949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151376"/>
                  </a:lnTo>
                  <a:cubicBezTo>
                    <a:pt x="5394960" y="4232148"/>
                    <a:pt x="5329428" y="4297680"/>
                    <a:pt x="52486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546336" y="2194560"/>
            <a:ext cx="822960" cy="822960"/>
            <a:chOff x="0" y="0"/>
            <a:chExt cx="109728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645091" y="2293315"/>
            <a:ext cx="625450" cy="625450"/>
            <a:chOff x="0" y="0"/>
            <a:chExt cx="833933" cy="833933"/>
          </a:xfrm>
        </p:grpSpPr>
        <p:sp>
          <p:nvSpPr>
            <p:cNvPr name="Freeform 58" id="58" descr="icon_dollar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6" b="-6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015216" y="2235708"/>
            <a:ext cx="1028700" cy="438912"/>
            <a:chOff x="0" y="0"/>
            <a:chExt cx="137160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716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7160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280160" y="0"/>
                  </a:lnTo>
                  <a:cubicBezTo>
                    <a:pt x="1330706" y="0"/>
                    <a:pt x="1371600" y="40894"/>
                    <a:pt x="1371600" y="91440"/>
                  </a:cubicBezTo>
                  <a:lnTo>
                    <a:pt x="1371600" y="493776"/>
                  </a:lnTo>
                  <a:cubicBezTo>
                    <a:pt x="1371600" y="544322"/>
                    <a:pt x="1330706" y="585216"/>
                    <a:pt x="1280160" y="585216"/>
                  </a:cubicBezTo>
                  <a:lnTo>
                    <a:pt x="91440" y="585216"/>
                  </a:lnTo>
                  <a:cubicBezTo>
                    <a:pt x="40894" y="585216"/>
                    <a:pt x="0" y="544322"/>
                    <a:pt x="0" y="493776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015216" y="2235708"/>
            <a:ext cx="1028700" cy="438912"/>
            <a:chOff x="0" y="0"/>
            <a:chExt cx="1371600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716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42" t="0" r="-4742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37160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46336" y="3086100"/>
            <a:ext cx="3566160" cy="480060"/>
            <a:chOff x="0" y="0"/>
            <a:chExt cx="4754880" cy="6400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 &amp; Deployment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395460" y="3263265"/>
            <a:ext cx="3922776" cy="1329690"/>
            <a:chOff x="0" y="0"/>
            <a:chExt cx="4754880" cy="16117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54880" cy="1611745"/>
            </a:xfrm>
            <a:custGeom>
              <a:avLst/>
              <a:gdLst/>
              <a:ahLst/>
              <a:cxnLst/>
              <a:rect r="r" b="b" t="t" l="l"/>
              <a:pathLst>
                <a:path h="161174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611745"/>
                  </a:lnTo>
                  <a:lnTo>
                    <a:pt x="0" y="16117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282" t="0" r="-4282" b="-2481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4754880" cy="1649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 4 + ESP32 + camera + motorized attachment: compact, low-cost, low-power, field-portable.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496544" y="1920240"/>
            <a:ext cx="4046220" cy="3223260"/>
            <a:chOff x="0" y="0"/>
            <a:chExt cx="5394960" cy="42976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94960" cy="4297680"/>
            </a:xfrm>
            <a:custGeom>
              <a:avLst/>
              <a:gdLst/>
              <a:ahLst/>
              <a:cxnLst/>
              <a:rect r="r" b="b" t="t" l="l"/>
              <a:pathLst>
                <a:path h="429768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151376"/>
                  </a:lnTo>
                  <a:cubicBezTo>
                    <a:pt x="5394960" y="4232148"/>
                    <a:pt x="5329428" y="4297680"/>
                    <a:pt x="52486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770864" y="2194560"/>
            <a:ext cx="822960" cy="822960"/>
            <a:chOff x="0" y="0"/>
            <a:chExt cx="1097280" cy="10972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869619" y="2293315"/>
            <a:ext cx="625450" cy="625450"/>
            <a:chOff x="0" y="0"/>
            <a:chExt cx="833933" cy="833933"/>
          </a:xfrm>
        </p:grpSpPr>
        <p:sp>
          <p:nvSpPr>
            <p:cNvPr name="Freeform 75" id="75" descr="icon_chart.png"/>
            <p:cNvSpPr/>
            <p:nvPr/>
          </p:nvSpPr>
          <p:spPr>
            <a:xfrm flipH="false" flipV="false" rot="0">
              <a:off x="0" y="0"/>
              <a:ext cx="833882" cy="833882"/>
            </a:xfrm>
            <a:custGeom>
              <a:avLst/>
              <a:gdLst/>
              <a:ahLst/>
              <a:cxnLst/>
              <a:rect r="r" b="b" t="t" l="l"/>
              <a:pathLst>
                <a:path h="833882" w="833882">
                  <a:moveTo>
                    <a:pt x="0" y="0"/>
                  </a:moveTo>
                  <a:lnTo>
                    <a:pt x="833882" y="0"/>
                  </a:lnTo>
                  <a:lnTo>
                    <a:pt x="833882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6" b="-6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6239744" y="2235708"/>
            <a:ext cx="1028700" cy="438912"/>
            <a:chOff x="0" y="0"/>
            <a:chExt cx="1371600" cy="58521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3716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7160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1280160" y="0"/>
                  </a:lnTo>
                  <a:cubicBezTo>
                    <a:pt x="1330706" y="0"/>
                    <a:pt x="1371600" y="40894"/>
                    <a:pt x="1371600" y="91440"/>
                  </a:cubicBezTo>
                  <a:lnTo>
                    <a:pt x="1371600" y="493776"/>
                  </a:lnTo>
                  <a:cubicBezTo>
                    <a:pt x="1371600" y="544322"/>
                    <a:pt x="1330706" y="585216"/>
                    <a:pt x="1280160" y="585216"/>
                  </a:cubicBezTo>
                  <a:lnTo>
                    <a:pt x="91440" y="585216"/>
                  </a:lnTo>
                  <a:cubicBezTo>
                    <a:pt x="40894" y="585216"/>
                    <a:pt x="0" y="544322"/>
                    <a:pt x="0" y="493776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6239744" y="2235708"/>
            <a:ext cx="1028700" cy="438912"/>
            <a:chOff x="0" y="0"/>
            <a:chExt cx="1371600" cy="58521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71600" cy="585216"/>
            </a:xfrm>
            <a:custGeom>
              <a:avLst/>
              <a:gdLst/>
              <a:ahLst/>
              <a:cxnLst/>
              <a:rect r="r" b="b" t="t" l="l"/>
              <a:pathLst>
                <a:path h="585216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42" t="0" r="-4742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371600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b="true" sz="13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770864" y="3086100"/>
            <a:ext cx="3566160" cy="480060"/>
            <a:chOff x="0" y="0"/>
            <a:chExt cx="4754880" cy="6400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&amp; Scale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813536" y="3434144"/>
            <a:ext cx="3566160" cy="1167003"/>
            <a:chOff x="0" y="0"/>
            <a:chExt cx="4754880" cy="155600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754880" cy="1556004"/>
            </a:xfrm>
            <a:custGeom>
              <a:avLst/>
              <a:gdLst/>
              <a:ahLst/>
              <a:cxnLst/>
              <a:rect r="r" b="b" t="t" l="l"/>
              <a:pathLst>
                <a:path h="155600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556004"/>
                  </a:lnTo>
                  <a:lnTo>
                    <a:pt x="0" y="15560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282" t="0" r="-4282" b="-2928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4754880" cy="15941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plankton datasets train the model; XYZ scanning enables systematic chamber analysis &amp; future classes.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14400" y="5406390"/>
            <a:ext cx="10972800" cy="595571"/>
            <a:chOff x="0" y="0"/>
            <a:chExt cx="14630400" cy="79409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630400" cy="794095"/>
            </a:xfrm>
            <a:custGeom>
              <a:avLst/>
              <a:gdLst/>
              <a:ahLst/>
              <a:cxnLst/>
              <a:rect r="r" b="b" t="t" l="l"/>
              <a:pathLst>
                <a:path h="79409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4447" r="0" b="-29353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57150"/>
              <a:ext cx="1463040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 spc="24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&amp; MITIGATION STRATEGY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22960" y="6103620"/>
            <a:ext cx="548640" cy="548640"/>
            <a:chOff x="0" y="0"/>
            <a:chExt cx="731520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9782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888797" y="6169457"/>
            <a:ext cx="416966" cy="416966"/>
            <a:chOff x="0" y="0"/>
            <a:chExt cx="555955" cy="555955"/>
          </a:xfrm>
        </p:grpSpPr>
        <p:sp>
          <p:nvSpPr>
            <p:cNvPr name="Freeform 93" id="93" descr="icon_warning.png"/>
            <p:cNvSpPr/>
            <p:nvPr/>
          </p:nvSpPr>
          <p:spPr>
            <a:xfrm flipH="false" flipV="false" rot="0">
              <a:off x="0" y="0"/>
              <a:ext cx="556006" cy="556006"/>
            </a:xfrm>
            <a:custGeom>
              <a:avLst/>
              <a:gdLst/>
              <a:ahLst/>
              <a:cxnLst/>
              <a:rect r="r" b="b" t="t" l="l"/>
              <a:pathLst>
                <a:path h="556006" w="556006">
                  <a:moveTo>
                    <a:pt x="0" y="0"/>
                  </a:moveTo>
                  <a:lnTo>
                    <a:pt x="556006" y="0"/>
                  </a:lnTo>
                  <a:lnTo>
                    <a:pt x="556006" y="556006"/>
                  </a:lnTo>
                  <a:lnTo>
                    <a:pt x="0" y="556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9" b="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535792" y="6076188"/>
            <a:ext cx="7749540" cy="617220"/>
            <a:chOff x="0" y="0"/>
            <a:chExt cx="10332720" cy="8229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33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645" r="0" b="-19464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03327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Visually similar species confusion (e.g. Skeletonema vs. Chaetoceros)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601200" y="6103620"/>
            <a:ext cx="548640" cy="548640"/>
            <a:chOff x="0" y="0"/>
            <a:chExt cx="731520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A9D6C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667037" y="6169457"/>
            <a:ext cx="416966" cy="416966"/>
            <a:chOff x="0" y="0"/>
            <a:chExt cx="555955" cy="555955"/>
          </a:xfrm>
        </p:grpSpPr>
        <p:sp>
          <p:nvSpPr>
            <p:cNvPr name="Freeform 100" id="100" descr="icon_check.png"/>
            <p:cNvSpPr/>
            <p:nvPr/>
          </p:nvSpPr>
          <p:spPr>
            <a:xfrm flipH="false" flipV="false" rot="0">
              <a:off x="0" y="0"/>
              <a:ext cx="556006" cy="556006"/>
            </a:xfrm>
            <a:custGeom>
              <a:avLst/>
              <a:gdLst/>
              <a:ahLst/>
              <a:cxnLst/>
              <a:rect r="r" b="b" t="t" l="l"/>
              <a:pathLst>
                <a:path h="556006" w="556006">
                  <a:moveTo>
                    <a:pt x="0" y="0"/>
                  </a:moveTo>
                  <a:lnTo>
                    <a:pt x="556006" y="0"/>
                  </a:lnTo>
                  <a:lnTo>
                    <a:pt x="556006" y="556006"/>
                  </a:lnTo>
                  <a:lnTo>
                    <a:pt x="0" y="556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9" b="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378440" y="6076188"/>
            <a:ext cx="7132320" cy="617220"/>
            <a:chOff x="0" y="0"/>
            <a:chExt cx="9509760" cy="8229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5160" r="0" b="-17516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95097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Targeted data diversification with curated WHOI imagery for confusable classes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22960" y="6954012"/>
            <a:ext cx="548640" cy="548640"/>
            <a:chOff x="0" y="0"/>
            <a:chExt cx="73152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9782E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888797" y="7019849"/>
            <a:ext cx="416966" cy="416966"/>
            <a:chOff x="0" y="0"/>
            <a:chExt cx="555955" cy="555955"/>
          </a:xfrm>
        </p:grpSpPr>
        <p:sp>
          <p:nvSpPr>
            <p:cNvPr name="Freeform 107" id="107" descr="icon_warning.png"/>
            <p:cNvSpPr/>
            <p:nvPr/>
          </p:nvSpPr>
          <p:spPr>
            <a:xfrm flipH="false" flipV="false" rot="0">
              <a:off x="0" y="0"/>
              <a:ext cx="556006" cy="556006"/>
            </a:xfrm>
            <a:custGeom>
              <a:avLst/>
              <a:gdLst/>
              <a:ahLst/>
              <a:cxnLst/>
              <a:rect r="r" b="b" t="t" l="l"/>
              <a:pathLst>
                <a:path h="556006" w="556006">
                  <a:moveTo>
                    <a:pt x="0" y="0"/>
                  </a:moveTo>
                  <a:lnTo>
                    <a:pt x="556006" y="0"/>
                  </a:lnTo>
                  <a:lnTo>
                    <a:pt x="556006" y="556006"/>
                  </a:lnTo>
                  <a:lnTo>
                    <a:pt x="0" y="556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9" b="9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577340" y="6926580"/>
            <a:ext cx="7749540" cy="617220"/>
            <a:chOff x="0" y="0"/>
            <a:chExt cx="10332720" cy="82296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33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645" r="0" b="-194645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03327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Overlapping &amp; chain-forming organisms undercounted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601200" y="6954012"/>
            <a:ext cx="548640" cy="548640"/>
            <a:chOff x="0" y="0"/>
            <a:chExt cx="731520" cy="73152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A9D6C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667037" y="7019849"/>
            <a:ext cx="416966" cy="416966"/>
            <a:chOff x="0" y="0"/>
            <a:chExt cx="555955" cy="555955"/>
          </a:xfrm>
        </p:grpSpPr>
        <p:sp>
          <p:nvSpPr>
            <p:cNvPr name="Freeform 114" id="114" descr="icon_check.png"/>
            <p:cNvSpPr/>
            <p:nvPr/>
          </p:nvSpPr>
          <p:spPr>
            <a:xfrm flipH="false" flipV="false" rot="0">
              <a:off x="0" y="0"/>
              <a:ext cx="556006" cy="556006"/>
            </a:xfrm>
            <a:custGeom>
              <a:avLst/>
              <a:gdLst/>
              <a:ahLst/>
              <a:cxnLst/>
              <a:rect r="r" b="b" t="t" l="l"/>
              <a:pathLst>
                <a:path h="556006" w="556006">
                  <a:moveTo>
                    <a:pt x="0" y="0"/>
                  </a:moveTo>
                  <a:lnTo>
                    <a:pt x="556006" y="0"/>
                  </a:lnTo>
                  <a:lnTo>
                    <a:pt x="556006" y="556006"/>
                  </a:lnTo>
                  <a:lnTo>
                    <a:pt x="0" y="556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9" b="9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0355580" y="6926580"/>
            <a:ext cx="7132320" cy="617220"/>
            <a:chOff x="0" y="0"/>
            <a:chExt cx="9509760" cy="8229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5160" r="0" b="-17516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95097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Dedicated overlap/chain-resolution stage before final counting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822960" y="7804404"/>
            <a:ext cx="548640" cy="548640"/>
            <a:chOff x="0" y="0"/>
            <a:chExt cx="731520" cy="73152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9782E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888797" y="7870241"/>
            <a:ext cx="416966" cy="416966"/>
            <a:chOff x="0" y="0"/>
            <a:chExt cx="555955" cy="555955"/>
          </a:xfrm>
        </p:grpSpPr>
        <p:sp>
          <p:nvSpPr>
            <p:cNvPr name="Freeform 121" id="121" descr="icon_warning.png"/>
            <p:cNvSpPr/>
            <p:nvPr/>
          </p:nvSpPr>
          <p:spPr>
            <a:xfrm flipH="false" flipV="false" rot="0">
              <a:off x="0" y="0"/>
              <a:ext cx="556006" cy="556006"/>
            </a:xfrm>
            <a:custGeom>
              <a:avLst/>
              <a:gdLst/>
              <a:ahLst/>
              <a:cxnLst/>
              <a:rect r="r" b="b" t="t" l="l"/>
              <a:pathLst>
                <a:path h="556006" w="556006">
                  <a:moveTo>
                    <a:pt x="0" y="0"/>
                  </a:moveTo>
                  <a:lnTo>
                    <a:pt x="556006" y="0"/>
                  </a:lnTo>
                  <a:lnTo>
                    <a:pt x="556006" y="556006"/>
                  </a:lnTo>
                  <a:lnTo>
                    <a:pt x="0" y="556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9" b="9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577340" y="7776972"/>
            <a:ext cx="7749540" cy="617220"/>
            <a:chOff x="0" y="0"/>
            <a:chExt cx="10332720" cy="8229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33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645" r="0" b="-19464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103327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Lighting &amp; focus drift across field samples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601200" y="7804404"/>
            <a:ext cx="548640" cy="548640"/>
            <a:chOff x="0" y="0"/>
            <a:chExt cx="731520" cy="7315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A9D6C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667037" y="7870241"/>
            <a:ext cx="416966" cy="416966"/>
            <a:chOff x="0" y="0"/>
            <a:chExt cx="555955" cy="555955"/>
          </a:xfrm>
        </p:grpSpPr>
        <p:sp>
          <p:nvSpPr>
            <p:cNvPr name="Freeform 128" id="128" descr="icon_check.png"/>
            <p:cNvSpPr/>
            <p:nvPr/>
          </p:nvSpPr>
          <p:spPr>
            <a:xfrm flipH="false" flipV="false" rot="0">
              <a:off x="0" y="0"/>
              <a:ext cx="556006" cy="556006"/>
            </a:xfrm>
            <a:custGeom>
              <a:avLst/>
              <a:gdLst/>
              <a:ahLst/>
              <a:cxnLst/>
              <a:rect r="r" b="b" t="t" l="l"/>
              <a:pathLst>
                <a:path h="556006" w="556006">
                  <a:moveTo>
                    <a:pt x="0" y="0"/>
                  </a:moveTo>
                  <a:lnTo>
                    <a:pt x="556006" y="0"/>
                  </a:lnTo>
                  <a:lnTo>
                    <a:pt x="556006" y="556006"/>
                  </a:lnTo>
                  <a:lnTo>
                    <a:pt x="0" y="556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9" b="9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0355580" y="7776972"/>
            <a:ext cx="7132320" cy="617220"/>
            <a:chOff x="0" y="0"/>
            <a:chExt cx="9509760" cy="82296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5160" r="0" b="-17516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95097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Motorized auto-focus + illumination control with preprocessing normalization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822960" y="8654796"/>
            <a:ext cx="548640" cy="548640"/>
            <a:chOff x="0" y="0"/>
            <a:chExt cx="731520" cy="73152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C9782E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888797" y="8720633"/>
            <a:ext cx="416966" cy="416966"/>
            <a:chOff x="0" y="0"/>
            <a:chExt cx="555955" cy="555955"/>
          </a:xfrm>
        </p:grpSpPr>
        <p:sp>
          <p:nvSpPr>
            <p:cNvPr name="Freeform 135" id="135" descr="icon_warning.png"/>
            <p:cNvSpPr/>
            <p:nvPr/>
          </p:nvSpPr>
          <p:spPr>
            <a:xfrm flipH="false" flipV="false" rot="0">
              <a:off x="0" y="0"/>
              <a:ext cx="556006" cy="556006"/>
            </a:xfrm>
            <a:custGeom>
              <a:avLst/>
              <a:gdLst/>
              <a:ahLst/>
              <a:cxnLst/>
              <a:rect r="r" b="b" t="t" l="l"/>
              <a:pathLst>
                <a:path h="556006" w="556006">
                  <a:moveTo>
                    <a:pt x="0" y="0"/>
                  </a:moveTo>
                  <a:lnTo>
                    <a:pt x="556006" y="0"/>
                  </a:lnTo>
                  <a:lnTo>
                    <a:pt x="556006" y="556006"/>
                  </a:lnTo>
                  <a:lnTo>
                    <a:pt x="0" y="556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9" b="9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577340" y="8627364"/>
            <a:ext cx="7749540" cy="617220"/>
            <a:chOff x="0" y="0"/>
            <a:chExt cx="10332720" cy="82296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0332720" cy="822960"/>
            </a:xfrm>
            <a:custGeom>
              <a:avLst/>
              <a:gdLst/>
              <a:ahLst/>
              <a:cxnLst/>
              <a:rect r="r" b="b" t="t" l="l"/>
              <a:pathLst>
                <a:path h="822960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4645" r="0" b="-194645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1033272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Limited species coverage at launch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9601200" y="8654796"/>
            <a:ext cx="548640" cy="548640"/>
            <a:chOff x="0" y="0"/>
            <a:chExt cx="731520" cy="73152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A9D6C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667037" y="8720633"/>
            <a:ext cx="416966" cy="416966"/>
            <a:chOff x="0" y="0"/>
            <a:chExt cx="555955" cy="555955"/>
          </a:xfrm>
        </p:grpSpPr>
        <p:sp>
          <p:nvSpPr>
            <p:cNvPr name="Freeform 142" id="142" descr="icon_check.png"/>
            <p:cNvSpPr/>
            <p:nvPr/>
          </p:nvSpPr>
          <p:spPr>
            <a:xfrm flipH="false" flipV="false" rot="0">
              <a:off x="0" y="0"/>
              <a:ext cx="556006" cy="556006"/>
            </a:xfrm>
            <a:custGeom>
              <a:avLst/>
              <a:gdLst/>
              <a:ahLst/>
              <a:cxnLst/>
              <a:rect r="r" b="b" t="t" l="l"/>
              <a:pathLst>
                <a:path h="556006" w="556006">
                  <a:moveTo>
                    <a:pt x="0" y="0"/>
                  </a:moveTo>
                  <a:lnTo>
                    <a:pt x="556006" y="0"/>
                  </a:lnTo>
                  <a:lnTo>
                    <a:pt x="556006" y="556006"/>
                  </a:lnTo>
                  <a:lnTo>
                    <a:pt x="0" y="556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9" b="9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0355580" y="8627364"/>
            <a:ext cx="7132320" cy="617220"/>
            <a:chOff x="0" y="0"/>
            <a:chExt cx="9509760" cy="82296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9509760" cy="822960"/>
            </a:xfrm>
            <a:custGeom>
              <a:avLst/>
              <a:gdLst/>
              <a:ahLst/>
              <a:cxnLst/>
              <a:rect r="r" b="b" t="t" l="l"/>
              <a:pathLst>
                <a:path h="822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5160" r="0" b="-17516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95097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Modular retraining pipeline to expand to new organism classes over time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5002030" y="110947"/>
            <a:ext cx="3132311" cy="1592118"/>
            <a:chOff x="0" y="0"/>
            <a:chExt cx="4418241" cy="2245741"/>
          </a:xfrm>
        </p:grpSpPr>
        <p:sp>
          <p:nvSpPr>
            <p:cNvPr name="Freeform 147" id="14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4550"/>
            <a:ext cx="18288000" cy="552450"/>
            <a:chOff x="0" y="0"/>
            <a:chExt cx="24384000" cy="736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442912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464344"/>
            <a:ext cx="16459200" cy="1735931"/>
            <a:chOff x="0" y="0"/>
            <a:chExt cx="21945600" cy="2314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314575"/>
            </a:xfrm>
            <a:custGeom>
              <a:avLst/>
              <a:gdLst/>
              <a:ahLst/>
              <a:cxnLst/>
              <a:rect r="r" b="b" t="t" l="l"/>
              <a:pathLst>
                <a:path h="23145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747" r="0" b="-13474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20800" y="9734550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020800" y="9720262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sp>
        <p:nvSpPr>
          <p:cNvPr name="Freeform 14" id="14" descr="Your startup LOGO"/>
          <p:cNvSpPr/>
          <p:nvPr/>
        </p:nvSpPr>
        <p:spPr>
          <a:xfrm flipH="false" flipV="false" rot="0">
            <a:off x="0" y="-86382"/>
            <a:ext cx="1778127" cy="1148420"/>
          </a:xfrm>
          <a:custGeom>
            <a:avLst/>
            <a:gdLst/>
            <a:ahLst/>
            <a:cxnLst/>
            <a:rect r="r" b="b" t="t" l="l"/>
            <a:pathLst>
              <a:path h="1148420" w="1778127">
                <a:moveTo>
                  <a:pt x="0" y="0"/>
                </a:moveTo>
                <a:lnTo>
                  <a:pt x="1778127" y="0"/>
                </a:lnTo>
                <a:lnTo>
                  <a:pt x="1778127" y="1148419"/>
                </a:lnTo>
                <a:lnTo>
                  <a:pt x="0" y="11484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6161" y="317859"/>
            <a:ext cx="1239631" cy="30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58ED5"/>
                </a:solidFill>
                <a:latin typeface="Arial Bold"/>
                <a:ea typeface="Arial Bold"/>
                <a:cs typeface="Arial Bold"/>
                <a:sym typeface="Arial Bold"/>
              </a:rPr>
              <a:t>BIOHACK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8368" y="1195387"/>
            <a:ext cx="8229600" cy="595571"/>
            <a:chOff x="0" y="0"/>
            <a:chExt cx="10972800" cy="7940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794095"/>
            </a:xfrm>
            <a:custGeom>
              <a:avLst/>
              <a:gdLst/>
              <a:ahLst/>
              <a:cxnLst/>
              <a:rect r="r" b="b" t="t" l="l"/>
              <a:pathLst>
                <a:path h="79409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699" r="0" b="-20378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97280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 spc="24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ON TARGET AUDIENCE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1988820"/>
            <a:ext cx="960120" cy="960120"/>
            <a:chOff x="0" y="0"/>
            <a:chExt cx="1280160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8174" y="2104034"/>
            <a:ext cx="729691" cy="729691"/>
            <a:chOff x="0" y="0"/>
            <a:chExt cx="972922" cy="972922"/>
          </a:xfrm>
        </p:grpSpPr>
        <p:sp>
          <p:nvSpPr>
            <p:cNvPr name="Freeform 22" id="22" descr="icon_clock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1268" y="2104034"/>
            <a:ext cx="4005072" cy="801014"/>
            <a:chOff x="0" y="0"/>
            <a:chExt cx="548640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4864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Faster Analysis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06340" y="1988820"/>
            <a:ext cx="960120" cy="960120"/>
            <a:chOff x="0" y="0"/>
            <a:chExt cx="128016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121554" y="2104034"/>
            <a:ext cx="729691" cy="729691"/>
            <a:chOff x="0" y="0"/>
            <a:chExt cx="972922" cy="972922"/>
          </a:xfrm>
        </p:grpSpPr>
        <p:sp>
          <p:nvSpPr>
            <p:cNvPr name="Freeform 29" id="29" descr="icon_users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2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321808" y="2057400"/>
            <a:ext cx="4114800" cy="822960"/>
            <a:chOff x="0" y="0"/>
            <a:chExt cx="548640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4864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Reduced Manual Effort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89720" y="1988820"/>
            <a:ext cx="960120" cy="960120"/>
            <a:chOff x="0" y="0"/>
            <a:chExt cx="1280160" cy="1280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304934" y="2104034"/>
            <a:ext cx="729691" cy="729691"/>
            <a:chOff x="0" y="0"/>
            <a:chExt cx="972922" cy="972922"/>
          </a:xfrm>
        </p:grpSpPr>
        <p:sp>
          <p:nvSpPr>
            <p:cNvPr name="Freeform 36" id="36" descr="icon_check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2" b="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436608" y="2057400"/>
            <a:ext cx="4114800" cy="822960"/>
            <a:chOff x="0" y="0"/>
            <a:chExt cx="548640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6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4864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59"/>
                </a:lnSpc>
              </a:pPr>
              <a:r>
                <a:rPr lang="en-US" b="true" sz="204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More Consistent Data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373100" y="1988820"/>
            <a:ext cx="960120" cy="960120"/>
            <a:chOff x="0" y="0"/>
            <a:chExt cx="128016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488314" y="2104034"/>
            <a:ext cx="729691" cy="729691"/>
            <a:chOff x="0" y="0"/>
            <a:chExt cx="972922" cy="972922"/>
          </a:xfrm>
        </p:grpSpPr>
        <p:sp>
          <p:nvSpPr>
            <p:cNvPr name="Freeform 43" id="43" descr="icon_globe.png"/>
            <p:cNvSpPr/>
            <p:nvPr/>
          </p:nvSpPr>
          <p:spPr>
            <a:xfrm flipH="false" flipV="false" rot="0">
              <a:off x="0" y="0"/>
              <a:ext cx="972947" cy="972947"/>
            </a:xfrm>
            <a:custGeom>
              <a:avLst/>
              <a:gdLst/>
              <a:ahLst/>
              <a:cxnLst/>
              <a:rect r="r" b="b" t="t" l="l"/>
              <a:pathLst>
                <a:path h="972947" w="972947">
                  <a:moveTo>
                    <a:pt x="0" y="0"/>
                  </a:moveTo>
                  <a:lnTo>
                    <a:pt x="972947" y="0"/>
                  </a:lnTo>
                  <a:lnTo>
                    <a:pt x="972947" y="972947"/>
                  </a:lnTo>
                  <a:lnTo>
                    <a:pt x="0" y="9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2" b="2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865733" y="2155463"/>
            <a:ext cx="4235125" cy="899160"/>
            <a:chOff x="0" y="0"/>
            <a:chExt cx="5048652" cy="1071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48652" cy="1071880"/>
            </a:xfrm>
            <a:custGeom>
              <a:avLst/>
              <a:gdLst/>
              <a:ahLst/>
              <a:cxnLst/>
              <a:rect r="r" b="b" t="t" l="l"/>
              <a:pathLst>
                <a:path h="1071880" w="5048652">
                  <a:moveTo>
                    <a:pt x="0" y="0"/>
                  </a:moveTo>
                  <a:lnTo>
                    <a:pt x="5048652" y="0"/>
                  </a:lnTo>
                  <a:lnTo>
                    <a:pt x="5048652" y="1071880"/>
                  </a:lnTo>
                  <a:lnTo>
                    <a:pt x="0" y="1071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549" r="-8670" b="-5091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048652" cy="1109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Accessible Biodiversity </a:t>
              </a:r>
            </a:p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Monitoring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>
            <a:off x="822965" y="3584667"/>
            <a:ext cx="16615409" cy="19140"/>
          </a:xfrm>
          <a:prstGeom prst="line">
            <a:avLst/>
          </a:prstGeom>
          <a:ln cap="rnd" w="9525">
            <a:solidFill>
              <a:srgbClr val="1C729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786004" y="4133850"/>
            <a:ext cx="8229600" cy="605098"/>
            <a:chOff x="0" y="0"/>
            <a:chExt cx="10972800" cy="80679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806797"/>
            </a:xfrm>
            <a:custGeom>
              <a:avLst/>
              <a:gdLst/>
              <a:ahLst/>
              <a:cxnLst/>
              <a:rect r="r" b="b" t="t" l="l"/>
              <a:pathLst>
                <a:path h="806797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1004" r="0" b="-19900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10972800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spc="24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BENEFITS OF THE SOLUTION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22960" y="5006340"/>
            <a:ext cx="4046220" cy="3497580"/>
            <a:chOff x="0" y="0"/>
            <a:chExt cx="5394960" cy="466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94960" cy="4663440"/>
            </a:xfrm>
            <a:custGeom>
              <a:avLst/>
              <a:gdLst/>
              <a:ahLst/>
              <a:cxnLst/>
              <a:rect r="r" b="b" t="t" l="l"/>
              <a:pathLst>
                <a:path h="466344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517136"/>
                  </a:lnTo>
                  <a:cubicBezTo>
                    <a:pt x="5394960" y="4597908"/>
                    <a:pt x="5329428" y="4663440"/>
                    <a:pt x="524865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24712" y="5308092"/>
            <a:ext cx="795528" cy="795528"/>
            <a:chOff x="0" y="0"/>
            <a:chExt cx="1060704" cy="10607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20172" y="5403552"/>
            <a:ext cx="604599" cy="604599"/>
            <a:chOff x="0" y="0"/>
            <a:chExt cx="806132" cy="806132"/>
          </a:xfrm>
        </p:grpSpPr>
        <p:sp>
          <p:nvSpPr>
            <p:cNvPr name="Freeform 56" id="56" descr="icon_flask.png"/>
            <p:cNvSpPr/>
            <p:nvPr/>
          </p:nvSpPr>
          <p:spPr>
            <a:xfrm flipH="false" flipV="false" rot="0">
              <a:off x="0" y="0"/>
              <a:ext cx="806196" cy="806196"/>
            </a:xfrm>
            <a:custGeom>
              <a:avLst/>
              <a:gdLst/>
              <a:ahLst/>
              <a:cxnLst/>
              <a:rect r="r" b="b" t="t" l="l"/>
              <a:pathLst>
                <a:path h="806196" w="806196">
                  <a:moveTo>
                    <a:pt x="0" y="0"/>
                  </a:moveTo>
                  <a:lnTo>
                    <a:pt x="806196" y="0"/>
                  </a:lnTo>
                  <a:lnTo>
                    <a:pt x="806196" y="806196"/>
                  </a:lnTo>
                  <a:lnTo>
                    <a:pt x="0" y="806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7" b="7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97280" y="6240780"/>
            <a:ext cx="3566160" cy="480060"/>
            <a:chOff x="0" y="0"/>
            <a:chExt cx="4754880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Scientific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97280" y="6748272"/>
            <a:ext cx="3566160" cy="1645920"/>
            <a:chOff x="0" y="0"/>
            <a:chExt cx="4754880" cy="21945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7548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75488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Standardized, quantitative species counts — helps researchers analyze large sample volumes efficiently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047488" y="5006340"/>
            <a:ext cx="4046220" cy="3497580"/>
            <a:chOff x="0" y="0"/>
            <a:chExt cx="5394960" cy="466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94960" cy="4663440"/>
            </a:xfrm>
            <a:custGeom>
              <a:avLst/>
              <a:gdLst/>
              <a:ahLst/>
              <a:cxnLst/>
              <a:rect r="r" b="b" t="t" l="l"/>
              <a:pathLst>
                <a:path h="466344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517136"/>
                  </a:lnTo>
                  <a:cubicBezTo>
                    <a:pt x="5394960" y="4597908"/>
                    <a:pt x="5329428" y="4663440"/>
                    <a:pt x="524865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349240" y="5308092"/>
            <a:ext cx="795528" cy="795528"/>
            <a:chOff x="0" y="0"/>
            <a:chExt cx="1060704" cy="106070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444700" y="5403552"/>
            <a:ext cx="604599" cy="604599"/>
            <a:chOff x="0" y="0"/>
            <a:chExt cx="806132" cy="806132"/>
          </a:xfrm>
        </p:grpSpPr>
        <p:sp>
          <p:nvSpPr>
            <p:cNvPr name="Freeform 68" id="68" descr="icon_dollar.png"/>
            <p:cNvSpPr/>
            <p:nvPr/>
          </p:nvSpPr>
          <p:spPr>
            <a:xfrm flipH="false" flipV="false" rot="0">
              <a:off x="0" y="0"/>
              <a:ext cx="806196" cy="806196"/>
            </a:xfrm>
            <a:custGeom>
              <a:avLst/>
              <a:gdLst/>
              <a:ahLst/>
              <a:cxnLst/>
              <a:rect r="r" b="b" t="t" l="l"/>
              <a:pathLst>
                <a:path h="806196" w="806196">
                  <a:moveTo>
                    <a:pt x="0" y="0"/>
                  </a:moveTo>
                  <a:lnTo>
                    <a:pt x="806196" y="0"/>
                  </a:lnTo>
                  <a:lnTo>
                    <a:pt x="806196" y="806196"/>
                  </a:lnTo>
                  <a:lnTo>
                    <a:pt x="0" y="806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7" b="7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321808" y="6240780"/>
            <a:ext cx="3566160" cy="480060"/>
            <a:chOff x="0" y="0"/>
            <a:chExt cx="4754880" cy="6400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321808" y="6748272"/>
            <a:ext cx="3566160" cy="1645920"/>
            <a:chOff x="0" y="0"/>
            <a:chExt cx="4754880" cy="21945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7548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75488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Cuts labour &amp; time for repetitive microscopy on low-cost embedded hardware — affordable for small labs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272016" y="5006340"/>
            <a:ext cx="4046220" cy="3497580"/>
            <a:chOff x="0" y="0"/>
            <a:chExt cx="5394960" cy="4663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94960" cy="4663440"/>
            </a:xfrm>
            <a:custGeom>
              <a:avLst/>
              <a:gdLst/>
              <a:ahLst/>
              <a:cxnLst/>
              <a:rect r="r" b="b" t="t" l="l"/>
              <a:pathLst>
                <a:path h="466344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517136"/>
                  </a:lnTo>
                  <a:cubicBezTo>
                    <a:pt x="5394960" y="4597908"/>
                    <a:pt x="5329428" y="4663440"/>
                    <a:pt x="524865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573768" y="5308092"/>
            <a:ext cx="795528" cy="795528"/>
            <a:chOff x="0" y="0"/>
            <a:chExt cx="1060704" cy="106070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669228" y="5403552"/>
            <a:ext cx="604599" cy="604599"/>
            <a:chOff x="0" y="0"/>
            <a:chExt cx="806132" cy="806132"/>
          </a:xfrm>
        </p:grpSpPr>
        <p:sp>
          <p:nvSpPr>
            <p:cNvPr name="Freeform 80" id="80" descr="icon_chip.png"/>
            <p:cNvSpPr/>
            <p:nvPr/>
          </p:nvSpPr>
          <p:spPr>
            <a:xfrm flipH="false" flipV="false" rot="0">
              <a:off x="0" y="0"/>
              <a:ext cx="806196" cy="806196"/>
            </a:xfrm>
            <a:custGeom>
              <a:avLst/>
              <a:gdLst/>
              <a:ahLst/>
              <a:cxnLst/>
              <a:rect r="r" b="b" t="t" l="l"/>
              <a:pathLst>
                <a:path h="806196" w="806196">
                  <a:moveTo>
                    <a:pt x="0" y="0"/>
                  </a:moveTo>
                  <a:lnTo>
                    <a:pt x="806196" y="0"/>
                  </a:lnTo>
                  <a:lnTo>
                    <a:pt x="806196" y="806196"/>
                  </a:lnTo>
                  <a:lnTo>
                    <a:pt x="0" y="806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7" b="7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546336" y="6240780"/>
            <a:ext cx="3566160" cy="480060"/>
            <a:chOff x="0" y="0"/>
            <a:chExt cx="4754880" cy="6400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Technological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546336" y="6748272"/>
            <a:ext cx="3566160" cy="1645920"/>
            <a:chOff x="0" y="0"/>
            <a:chExt cx="4754880" cy="21945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7548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475488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Unifies AI, computer vision, motorized microscopy &amp; edge computing in one intelligent platform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496544" y="5006340"/>
            <a:ext cx="4046220" cy="3497580"/>
            <a:chOff x="0" y="0"/>
            <a:chExt cx="5394960" cy="46634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94960" cy="4663440"/>
            </a:xfrm>
            <a:custGeom>
              <a:avLst/>
              <a:gdLst/>
              <a:ahLst/>
              <a:cxnLst/>
              <a:rect r="r" b="b" t="t" l="l"/>
              <a:pathLst>
                <a:path h="4663440" w="5394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248656" y="0"/>
                  </a:lnTo>
                  <a:cubicBezTo>
                    <a:pt x="5329428" y="0"/>
                    <a:pt x="5394960" y="65532"/>
                    <a:pt x="5394960" y="146304"/>
                  </a:cubicBezTo>
                  <a:lnTo>
                    <a:pt x="5394960" y="4517136"/>
                  </a:lnTo>
                  <a:cubicBezTo>
                    <a:pt x="5394960" y="4597908"/>
                    <a:pt x="5329428" y="4663440"/>
                    <a:pt x="524865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798296" y="5308092"/>
            <a:ext cx="795528" cy="795528"/>
            <a:chOff x="0" y="0"/>
            <a:chExt cx="1060704" cy="106070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530352"/>
                  </a:moveTo>
                  <a:cubicBezTo>
                    <a:pt x="0" y="237490"/>
                    <a:pt x="237490" y="0"/>
                    <a:pt x="530352" y="0"/>
                  </a:cubicBezTo>
                  <a:cubicBezTo>
                    <a:pt x="823214" y="0"/>
                    <a:pt x="1060704" y="237490"/>
                    <a:pt x="1060704" y="530352"/>
                  </a:cubicBezTo>
                  <a:cubicBezTo>
                    <a:pt x="1060704" y="823214"/>
                    <a:pt x="823214" y="1060704"/>
                    <a:pt x="530352" y="1060704"/>
                  </a:cubicBezTo>
                  <a:cubicBezTo>
                    <a:pt x="237490" y="1060704"/>
                    <a:pt x="0" y="823214"/>
                    <a:pt x="0" y="530352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893756" y="5403552"/>
            <a:ext cx="604599" cy="604599"/>
            <a:chOff x="0" y="0"/>
            <a:chExt cx="806132" cy="806132"/>
          </a:xfrm>
        </p:grpSpPr>
        <p:sp>
          <p:nvSpPr>
            <p:cNvPr name="Freeform 92" id="92" descr="icon_expand.png"/>
            <p:cNvSpPr/>
            <p:nvPr/>
          </p:nvSpPr>
          <p:spPr>
            <a:xfrm flipH="false" flipV="false" rot="0">
              <a:off x="0" y="0"/>
              <a:ext cx="806196" cy="806196"/>
            </a:xfrm>
            <a:custGeom>
              <a:avLst/>
              <a:gdLst/>
              <a:ahLst/>
              <a:cxnLst/>
              <a:rect r="r" b="b" t="t" l="l"/>
              <a:pathLst>
                <a:path h="806196" w="806196">
                  <a:moveTo>
                    <a:pt x="0" y="0"/>
                  </a:moveTo>
                  <a:lnTo>
                    <a:pt x="806196" y="0"/>
                  </a:lnTo>
                  <a:lnTo>
                    <a:pt x="806196" y="806196"/>
                  </a:lnTo>
                  <a:lnTo>
                    <a:pt x="0" y="806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7" b="7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3770864" y="6240780"/>
            <a:ext cx="3566160" cy="480060"/>
            <a:chOff x="0" y="0"/>
            <a:chExt cx="4754880" cy="6400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Long-Term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770864" y="6748272"/>
            <a:ext cx="3566160" cy="1645920"/>
            <a:chOff x="0" y="0"/>
            <a:chExt cx="4754880" cy="219456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7548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475488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Scalable to new organism classes, datasets &amp; microscopes — a platform for automated marine monitoring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5181799" y="147863"/>
            <a:ext cx="2919060" cy="1483724"/>
            <a:chOff x="0" y="0"/>
            <a:chExt cx="4418241" cy="2245741"/>
          </a:xfrm>
        </p:grpSpPr>
        <p:sp>
          <p:nvSpPr>
            <p:cNvPr name="Freeform 100" id="100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686839"/>
            <a:ext cx="18288000" cy="600170"/>
            <a:chOff x="0" y="0"/>
            <a:chExt cx="24384000" cy="8002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800227"/>
            </a:xfrm>
            <a:custGeom>
              <a:avLst/>
              <a:gdLst/>
              <a:ahLst/>
              <a:cxnLst/>
              <a:rect r="r" b="b" t="t" l="l"/>
              <a:pathLst>
                <a:path h="80022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00227"/>
                  </a:lnTo>
                  <a:lnTo>
                    <a:pt x="0" y="800227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5972" y="-44476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5972" y="-466192"/>
            <a:ext cx="16459200" cy="1735931"/>
            <a:chOff x="0" y="0"/>
            <a:chExt cx="21945600" cy="2314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314575"/>
            </a:xfrm>
            <a:custGeom>
              <a:avLst/>
              <a:gdLst/>
              <a:ahLst/>
              <a:cxnLst/>
              <a:rect r="r" b="b" t="t" l="l"/>
              <a:pathLst>
                <a:path h="23145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747" r="0" b="-13474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20800" y="9739312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020800" y="9725025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sp>
        <p:nvSpPr>
          <p:cNvPr name="Freeform 14" id="14" descr="Your startup LOGO"/>
          <p:cNvSpPr/>
          <p:nvPr/>
        </p:nvSpPr>
        <p:spPr>
          <a:xfrm flipH="false" flipV="false" rot="0">
            <a:off x="26899" y="110947"/>
            <a:ext cx="1778127" cy="1090041"/>
          </a:xfrm>
          <a:custGeom>
            <a:avLst/>
            <a:gdLst/>
            <a:ahLst/>
            <a:cxnLst/>
            <a:rect r="r" b="b" t="t" l="l"/>
            <a:pathLst>
              <a:path h="1090041" w="1778127">
                <a:moveTo>
                  <a:pt x="0" y="0"/>
                </a:moveTo>
                <a:lnTo>
                  <a:pt x="1778127" y="0"/>
                </a:lnTo>
                <a:lnTo>
                  <a:pt x="1778127" y="1090041"/>
                </a:lnTo>
                <a:lnTo>
                  <a:pt x="0" y="1090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0304" y="494033"/>
            <a:ext cx="1239631" cy="30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558ED5"/>
                </a:solidFill>
                <a:latin typeface="Arial Bold"/>
                <a:ea typeface="Arial Bold"/>
                <a:cs typeface="Arial Bold"/>
                <a:sym typeface="Arial Bold"/>
              </a:rPr>
              <a:t>BIOHACK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1252279"/>
            <a:ext cx="8229600" cy="595571"/>
            <a:chOff x="0" y="0"/>
            <a:chExt cx="10972800" cy="7940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794095"/>
            </a:xfrm>
            <a:custGeom>
              <a:avLst/>
              <a:gdLst/>
              <a:ahLst/>
              <a:cxnLst/>
              <a:rect r="r" b="b" t="t" l="l"/>
              <a:pathLst>
                <a:path h="79409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699" r="0" b="-20378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97280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 spc="24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DATASET &amp; TOOLING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2057400"/>
            <a:ext cx="16596360" cy="1371600"/>
            <a:chOff x="0" y="0"/>
            <a:chExt cx="2212848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682496"/>
                  </a:lnTo>
                  <a:cubicBezTo>
                    <a:pt x="22128480" y="1763268"/>
                    <a:pt x="22062948" y="1828800"/>
                    <a:pt x="2198217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97280" y="2304288"/>
            <a:ext cx="850392" cy="850392"/>
            <a:chOff x="0" y="0"/>
            <a:chExt cx="1133856" cy="11338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99331" y="2406339"/>
            <a:ext cx="646300" cy="646300"/>
            <a:chOff x="0" y="0"/>
            <a:chExt cx="861733" cy="861733"/>
          </a:xfrm>
        </p:grpSpPr>
        <p:sp>
          <p:nvSpPr>
            <p:cNvPr name="Freeform 24" id="24" descr="icon_water.png"/>
            <p:cNvSpPr/>
            <p:nvPr/>
          </p:nvSpPr>
          <p:spPr>
            <a:xfrm flipH="false" flipV="false" rot="0">
              <a:off x="0" y="0"/>
              <a:ext cx="861695" cy="861695"/>
            </a:xfrm>
            <a:custGeom>
              <a:avLst/>
              <a:gdLst/>
              <a:ahLst/>
              <a:cxnLst/>
              <a:rect r="r" b="b" t="t" l="l"/>
              <a:pathLst>
                <a:path h="861695" w="861695">
                  <a:moveTo>
                    <a:pt x="0" y="0"/>
                  </a:moveTo>
                  <a:lnTo>
                    <a:pt x="861695" y="0"/>
                  </a:lnTo>
                  <a:lnTo>
                    <a:pt x="861695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-4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263140" y="2167128"/>
            <a:ext cx="6172200" cy="480060"/>
            <a:chOff x="0" y="0"/>
            <a:chExt cx="822960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229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WHOI-Plankton Dataset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263140" y="2633472"/>
            <a:ext cx="14401800" cy="685800"/>
            <a:chOff x="0" y="0"/>
            <a:chExt cx="19202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9202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Orenstein, Beijbom, Peacock &amp; Sosik (2015) — 3.4M+ expert-labeled plankton images, used to diversify training for confusable species.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3634740"/>
            <a:ext cx="16596360" cy="1371600"/>
            <a:chOff x="0" y="0"/>
            <a:chExt cx="2212848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682496"/>
                  </a:lnTo>
                  <a:cubicBezTo>
                    <a:pt x="22128480" y="1763268"/>
                    <a:pt x="22062948" y="1828800"/>
                    <a:pt x="21982176" y="1828800"/>
                  </a:cubicBezTo>
                  <a:lnTo>
                    <a:pt x="146304" y="1828800"/>
                  </a:lnTo>
                  <a:cubicBezTo>
                    <a:pt x="65532" y="1828800"/>
                    <a:pt x="0" y="1763268"/>
                    <a:pt x="0" y="1682496"/>
                  </a:cubicBezTo>
                  <a:close/>
                </a:path>
              </a:pathLst>
            </a:custGeom>
            <a:solidFill>
              <a:srgbClr val="EEF6F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97280" y="3881628"/>
            <a:ext cx="850392" cy="850392"/>
            <a:chOff x="0" y="0"/>
            <a:chExt cx="1133856" cy="1133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4914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99331" y="3983679"/>
            <a:ext cx="646300" cy="646300"/>
            <a:chOff x="0" y="0"/>
            <a:chExt cx="861733" cy="861733"/>
          </a:xfrm>
        </p:grpSpPr>
        <p:sp>
          <p:nvSpPr>
            <p:cNvPr name="Freeform 36" id="36" descr="icon_chip.png"/>
            <p:cNvSpPr/>
            <p:nvPr/>
          </p:nvSpPr>
          <p:spPr>
            <a:xfrm flipH="false" flipV="false" rot="0">
              <a:off x="0" y="0"/>
              <a:ext cx="861695" cy="861695"/>
            </a:xfrm>
            <a:custGeom>
              <a:avLst/>
              <a:gdLst/>
              <a:ahLst/>
              <a:cxnLst/>
              <a:rect r="r" b="b" t="t" l="l"/>
              <a:pathLst>
                <a:path h="861695" w="861695">
                  <a:moveTo>
                    <a:pt x="0" y="0"/>
                  </a:moveTo>
                  <a:lnTo>
                    <a:pt x="861695" y="0"/>
                  </a:lnTo>
                  <a:lnTo>
                    <a:pt x="861695" y="861695"/>
                  </a:lnTo>
                  <a:lnTo>
                    <a:pt x="0" y="861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4" b="-4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263140" y="3744468"/>
            <a:ext cx="6172200" cy="480060"/>
            <a:chOff x="0" y="0"/>
            <a:chExt cx="822960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22960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229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Ultralytics YOLO11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263140" y="4210812"/>
            <a:ext cx="14401800" cy="685800"/>
            <a:chOff x="0" y="0"/>
            <a:chExt cx="19202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9202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single-stage object detector; YOLO11n variant chosen for lightweight edge inference on Raspberry Pi 4.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" y="5289355"/>
            <a:ext cx="8229600" cy="595571"/>
            <a:chOff x="0" y="0"/>
            <a:chExt cx="10972800" cy="79409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794095"/>
            </a:xfrm>
            <a:custGeom>
              <a:avLst/>
              <a:gdLst/>
              <a:ahLst/>
              <a:cxnLst/>
              <a:rect r="r" b="b" t="t" l="l"/>
              <a:pathLst>
                <a:path h="79409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94095"/>
                  </a:lnTo>
                  <a:lnTo>
                    <a:pt x="0" y="7940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699" r="0" b="-20378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0972800" cy="85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 spc="24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 LITERATURE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0120" y="6089904"/>
            <a:ext cx="123444" cy="123444"/>
            <a:chOff x="0" y="0"/>
            <a:chExt cx="164592" cy="1645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71600" y="5884926"/>
            <a:ext cx="16047720" cy="754380"/>
            <a:chOff x="0" y="0"/>
            <a:chExt cx="21396960" cy="1005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3969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499" r="0" b="-36449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13969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Orenstein, E. C., Beijbom, O., Peacock, E. E., &amp; Sosik, H. M. “WHOI-Plankton: A Large-Scale Fine-Grained Visual Recognition Benchmark Dataset for Plankton Classification.” arXiv:1510.00745 (2015).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0120" y="6940296"/>
            <a:ext cx="123444" cy="123444"/>
            <a:chOff x="0" y="0"/>
            <a:chExt cx="164592" cy="164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03020" y="6734556"/>
            <a:ext cx="16047720" cy="754380"/>
            <a:chOff x="0" y="0"/>
            <a:chExt cx="21396960" cy="1005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3969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499" r="0" b="-36449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13969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Li, X. et al. “YOLOv3-dense: densely connected YOLO variants applied to WHOI-Plankton for real-time zooplankton identification &amp; classification.”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0120" y="7790688"/>
            <a:ext cx="123444" cy="123444"/>
            <a:chOff x="0" y="0"/>
            <a:chExt cx="164592" cy="164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03020" y="7584948"/>
            <a:ext cx="16047720" cy="754380"/>
            <a:chOff x="0" y="0"/>
            <a:chExt cx="21396960" cy="1005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3969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499" r="0" b="-36449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213969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Bachimanchi, H. et al. “Deep-learning-powered data analysis in plankton ecology.” Limnology and Oceanography Letters (2024).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0120" y="8641080"/>
            <a:ext cx="123444" cy="123444"/>
            <a:chOff x="0" y="0"/>
            <a:chExt cx="164592" cy="164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FE9624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03020" y="8435340"/>
            <a:ext cx="16047720" cy="754380"/>
            <a:chOff x="0" y="0"/>
            <a:chExt cx="21396960" cy="10058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396961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499" r="0" b="-36449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13969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Ultralytics. “YOLO11 Documentation.” docs.ultralytics.com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806007" y="247574"/>
            <a:ext cx="3313681" cy="1495501"/>
            <a:chOff x="0" y="0"/>
            <a:chExt cx="4418241" cy="1994002"/>
          </a:xfrm>
        </p:grpSpPr>
        <p:sp>
          <p:nvSpPr>
            <p:cNvPr name="Freeform 67" id="67" descr="https://www.sih.gov.in/img1/SIH-Logo.png"/>
            <p:cNvSpPr/>
            <p:nvPr/>
          </p:nvSpPr>
          <p:spPr>
            <a:xfrm flipH="false" flipV="false" rot="0">
              <a:off x="0" y="0"/>
              <a:ext cx="4418203" cy="1994002"/>
            </a:xfrm>
            <a:custGeom>
              <a:avLst/>
              <a:gdLst/>
              <a:ahLst/>
              <a:cxnLst/>
              <a:rect r="r" b="b" t="t" l="l"/>
              <a:pathLst>
                <a:path h="1994002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1994002"/>
                  </a:lnTo>
                  <a:lnTo>
                    <a:pt x="0" y="1994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312" r="0" b="-631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DAHTdxstgL0</dc:identifier>
  <dcterms:modified xsi:type="dcterms:W3CDTF">2011-08-01T06:04:30Z</dcterms:modified>
  <cp:revision>1</cp:revision>
  <dc:title>SIHBiohackFinal.pptx</dc:title>
</cp:coreProperties>
</file>